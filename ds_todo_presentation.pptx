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17520"/>
            <a:ext cx="12191695" cy="73152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800" b="1">
                <a:solidFill>
                  <a:srgbClr val="FFFFFF"/>
                </a:solidFill>
                <a:latin typeface="Microsoft YaHei"/>
              </a:defRPr>
            </a:pPr>
            <a:r>
              <a:t>ds_todo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918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C8C9E"/>
                </a:solidFill>
                <a:latin typeface="Microsoft YaHei"/>
              </a:defRPr>
            </a:pPr>
            <a:r>
              <a:t>智能待办事项管理应用  |  软件开发创新大赛参赛作品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C83F7"/>
                </a:solidFill>
                <a:latin typeface="Microsoft YaHei"/>
              </a:defRPr>
            </a:pPr>
            <a:r>
              <a:t>基于 Next.js 16 + TypeScript + Tailwind CSS v4 + Electron 架构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4754880"/>
            <a:ext cx="1097280" cy="274320"/>
          </a:xfrm>
          <a:prstGeom prst="roundRect">
            <a:avLst>
              <a:gd name="adj" fmla="val 15000"/>
            </a:avLst>
          </a:prstGeom>
          <a:solidFill>
            <a:srgbClr val="E8EC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12700" bIns="12700"/>
          <a:lstStyle/>
          <a:p>
            <a:pPr algn="ctr">
              <a:defRPr sz="900" b="1">
                <a:solidFill>
                  <a:srgbClr val="3B54DB"/>
                </a:solidFill>
                <a:latin typeface="Microsoft YaHei"/>
              </a:defRPr>
            </a:pPr>
            <a:r>
              <a:t>React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754880"/>
            <a:ext cx="1188720" cy="274320"/>
          </a:xfrm>
          <a:prstGeom prst="roundRect">
            <a:avLst>
              <a:gd name="adj" fmla="val 15000"/>
            </a:avLst>
          </a:prstGeom>
          <a:solidFill>
            <a:srgbClr val="D4F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12700" bIns="12700"/>
          <a:lstStyle/>
          <a:p>
            <a:pPr algn="ctr">
              <a:defRPr sz="900" b="1">
                <a:solidFill>
                  <a:srgbClr val="1E8E5A"/>
                </a:solidFill>
                <a:latin typeface="Microsoft YaHei"/>
              </a:defRPr>
            </a:pPr>
            <a:r>
              <a:t>TypeScript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0" y="4754880"/>
            <a:ext cx="1097280" cy="274320"/>
          </a:xfrm>
          <a:prstGeom prst="roundRect">
            <a:avLst>
              <a:gd name="adj" fmla="val 15000"/>
            </a:avLst>
          </a:prstGeom>
          <a:solidFill>
            <a:srgbClr val="E8EC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12700" bIns="12700"/>
          <a:lstStyle/>
          <a:p>
            <a:pPr algn="ctr">
              <a:defRPr sz="900" b="1">
                <a:solidFill>
                  <a:srgbClr val="3B54DB"/>
                </a:solidFill>
                <a:latin typeface="Microsoft YaHei"/>
              </a:defRPr>
            </a:pPr>
            <a:r>
              <a:t>Next.js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4754880"/>
            <a:ext cx="1280160" cy="274320"/>
          </a:xfrm>
          <a:prstGeom prst="roundRect">
            <a:avLst>
              <a:gd name="adj" fmla="val 15000"/>
            </a:avLst>
          </a:prstGeom>
          <a:solidFill>
            <a:srgbClr val="F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12700" bIns="12700"/>
          <a:lstStyle/>
          <a:p>
            <a:pPr algn="ctr">
              <a:defRPr sz="900" b="1">
                <a:solidFill>
                  <a:srgbClr val="C0392B"/>
                </a:solidFill>
                <a:latin typeface="Microsoft YaHei"/>
              </a:defRPr>
            </a:pPr>
            <a:r>
              <a:t>Tailwind CSS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0" y="4754880"/>
            <a:ext cx="1463040" cy="274320"/>
          </a:xfrm>
          <a:prstGeom prst="roundRect">
            <a:avLst>
              <a:gd name="adj" fmla="val 15000"/>
            </a:avLst>
          </a:prstGeom>
          <a:solidFill>
            <a:srgbClr val="D4F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12700" bIns="12700"/>
          <a:lstStyle/>
          <a:p>
            <a:pPr algn="ctr">
              <a:defRPr sz="900" b="1">
                <a:solidFill>
                  <a:srgbClr val="1E8E5A"/>
                </a:solidFill>
                <a:latin typeface="Microsoft YaHei"/>
              </a:defRPr>
            </a:pPr>
            <a:r>
              <a:t>framer-motion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4754880"/>
            <a:ext cx="1188720" cy="274320"/>
          </a:xfrm>
          <a:prstGeom prst="roundRect">
            <a:avLst>
              <a:gd name="adj" fmla="val 15000"/>
            </a:avLst>
          </a:prstGeom>
          <a:solidFill>
            <a:srgbClr val="E8EC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12700" bIns="12700"/>
          <a:lstStyle/>
          <a:p>
            <a:pPr algn="ctr">
              <a:defRPr sz="900" b="1">
                <a:solidFill>
                  <a:srgbClr val="3B54DB"/>
                </a:solidFill>
                <a:latin typeface="Microsoft YaHei"/>
              </a:defRPr>
            </a:pPr>
            <a:r>
              <a:t>Electron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669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C8C9E"/>
                </a:solidFill>
                <a:latin typeface="Microsoft YaHei"/>
              </a:defRPr>
            </a:pPr>
            <a:r>
              <a:t>github.com/jackaaron01/ds_todo  |  Version 1.0.0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E"/>
                </a:solidFill>
                <a:latin typeface="Microsoft YaHei"/>
              </a:defRPr>
            </a:pPr>
            <a: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Microsoft YaHei"/>
              </a:defRPr>
            </a:pPr>
            <a:r>
              <a:t>项目概览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E"/>
                </a:solidFill>
                <a:latin typeface="Microsoft YaHei"/>
              </a:defRPr>
            </a:pPr>
            <a:r>
              <a:t>一句话说清 ds_todo 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Microsoft YaHei"/>
              </a:defRPr>
            </a:pPr>
            <a:r>
              <a:t>ds_todo 是一款面向现代工作者和学生的全功能待办事项管理桌面应用，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Microsoft YaHei"/>
              </a:defRPr>
            </a:pPr>
            <a:r>
              <a:t>融合了任务管理、子任务拆解、智能排序、数据备份等 20+ 实用功能，帮助用户高效规划每一天。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269748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6EF7"/>
                </a:solidFill>
                <a:latin typeface="Microsoft YaHei"/>
              </a:defRPr>
            </a:pPr>
            <a:r>
              <a:t>🎯  解决什么问题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54680"/>
            <a:ext cx="23317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市面待办工具功能碎片化，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要么缺子任务，要么缺优先级，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要么缺暗色模式。ds_todo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一次性补齐所有刚需。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2651760"/>
            <a:ext cx="269748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283464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6EF7"/>
                </a:solidFill>
                <a:latin typeface="Microsoft YaHei"/>
              </a:defRPr>
            </a:pPr>
            <a:r>
              <a:t>⚡  核心优势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3154680"/>
            <a:ext cx="23317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纯前端本地存储，数据绝对隐私；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Electron 打包为单文件 exe，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双击即用零配置；现代技术栈，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代码优雅可维护。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651760"/>
            <a:ext cx="269748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83464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6EF7"/>
                </a:solidFill>
                <a:latin typeface="Microsoft YaHei"/>
              </a:defRPr>
            </a:pPr>
            <a:r>
              <a:t>🏆  目标用户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154680"/>
            <a:ext cx="23317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学生：管理作业和考试日程；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开发者：追踪 Bug 和 Feature；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自由职业者：多项目并行管理；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任何需要任务管理的人。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2651760"/>
            <a:ext cx="269748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283464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6EF7"/>
                </a:solidFill>
                <a:latin typeface="Microsoft YaHei"/>
              </a:defRPr>
            </a:pPr>
            <a:r>
              <a:t>🔮  设计理念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3154680"/>
            <a:ext cx="23317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功能完备但不臃肿；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动画流畅但不花哨；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本地优先、隐私至上；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开源透明、持续迭代。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12064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F6EF7"/>
                </a:solidFill>
                <a:latin typeface="Microsoft YaHei"/>
              </a:defRPr>
            </a:pPr>
            <a:r>
              <a:t>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57784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C8C9E"/>
                </a:solidFill>
                <a:latin typeface="Microsoft YaHei"/>
              </a:defRPr>
            </a:pPr>
            <a:r>
              <a:t>源文件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512064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F6EF7"/>
                </a:solidFill>
                <a:latin typeface="Microsoft YaHei"/>
              </a:defRPr>
            </a:pPr>
            <a:r>
              <a:t>2000+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557784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C8C9E"/>
                </a:solidFill>
                <a:latin typeface="Microsoft YaHei"/>
              </a:defRPr>
            </a:pPr>
            <a:r>
              <a:t>行代码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512064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F6EF7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557784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C8C9E"/>
                </a:solidFill>
                <a:latin typeface="Microsoft YaHei"/>
              </a:defRPr>
            </a:pPr>
            <a:r>
              <a:t>组件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512064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F6EF7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557784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C8C9E"/>
                </a:solidFill>
                <a:latin typeface="Microsoft YaHei"/>
              </a:defRPr>
            </a:pPr>
            <a:r>
              <a:t>自定义 Hook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512064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F6EF7"/>
                </a:solidFill>
                <a:latin typeface="Microsoft YaHei"/>
              </a:defRPr>
            </a:pPr>
            <a:r>
              <a:t>131 MB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557784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C8C9E"/>
                </a:solidFill>
                <a:latin typeface="Microsoft YaHei"/>
              </a:defRPr>
            </a:pPr>
            <a:r>
              <a:t>桌面安装包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512064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F6EF7"/>
                </a:solidFill>
                <a:latin typeface="Microsoft YaHei"/>
              </a:defRPr>
            </a:pPr>
            <a:r>
              <a:t>20+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557784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C8C9E"/>
                </a:solidFill>
                <a:latin typeface="Microsoft YaHei"/>
              </a:defRPr>
            </a:pPr>
            <a:r>
              <a:t>功能特性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E"/>
                </a:solidFill>
                <a:latin typeface="Microsoft YaHei"/>
              </a:defRPr>
            </a:pPr>
            <a: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Microsoft YaHei"/>
              </a:defRPr>
            </a:pPr>
            <a:r>
              <a:t>痛点分析 &amp; 市场调研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E"/>
                </a:solidFill>
                <a:latin typeface="Microsoft YaHei"/>
              </a:defRPr>
            </a:pPr>
            <a:r>
              <a:t>当前待办应用市场存在哪些空白？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26974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F6EF7"/>
                </a:solidFill>
                <a:latin typeface="Microsoft YaHei"/>
              </a:defRPr>
            </a:pPr>
            <a:r>
              <a:t>🔒  数据隐私焦虑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23317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主流待办应用多为云端同步，用户任务数据存储在第三方服务器，存在隐私泄露风险。部分用户拒绝使用云同步工具。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463040"/>
            <a:ext cx="26974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6459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F6EF7"/>
                </a:solidFill>
                <a:latin typeface="Microsoft YaHei"/>
              </a:defRPr>
            </a:pPr>
            <a:r>
              <a:t>🧩  功能碎片化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965960"/>
            <a:ext cx="23317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有的 App 有优先级却没子任务，有的支持子任务却不支持日期提醒。用户被迫同时使用多个工具管理任务。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6974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6459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F6EF7"/>
                </a:solidFill>
                <a:latin typeface="Microsoft YaHei"/>
              </a:defRPr>
            </a:pPr>
            <a:r>
              <a:t>📱  体验割裂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965960"/>
            <a:ext cx="23317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Web 版功能受限，桌面版更新缓慢，移动端体验不一致。社区开源项目多为简单 Demo，缺乏生产级质量。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280" y="1463040"/>
            <a:ext cx="26974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1160" y="16459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F6EF7"/>
                </a:solidFill>
                <a:latin typeface="Microsoft YaHei"/>
              </a:defRPr>
            </a:pPr>
            <a:r>
              <a:t>📚  学习成本高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1965960"/>
            <a:ext cx="23317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Notion、Obsidian 等功能强大但配置复杂，普通用户需要大量学习才能上手。轻量级工具又功能太弱。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572000"/>
            <a:ext cx="11247120" cy="1645920"/>
          </a:xfrm>
          <a:prstGeom prst="roundRect">
            <a:avLst>
              <a:gd name="adj" fmla="val 2000"/>
            </a:avLst>
          </a:prstGeom>
          <a:solidFill>
            <a:srgbClr val="F5F6FA"/>
          </a:solidFill>
          <a:ln w="10160">
            <a:solidFill>
              <a:srgbClr val="4F6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634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Microsoft YaHei"/>
              </a:defRPr>
            </a:pPr>
            <a:r>
              <a:t>市场空白总结：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Microsoft YaHei"/>
              </a:defRPr>
            </a:pPr>
            <a:r>
              <a:t>  • 微软 To Do / Todoist / TickTick 等商业产品功能强大但需联网注册，数据存于云端，部分场景不符合国内用户习惯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Microsoft YaHei"/>
              </a:defRPr>
            </a:pPr>
            <a:r>
              <a:t>  • 开源社区缺乏「颜值与功能并重」的桌面端待办应用，大多为简陋 Demo 或 Web-only，不提供原生桌面体验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Microsoft YaHei"/>
              </a:defRPr>
            </a:pPr>
            <a:r>
              <a:t>  • ds_todo 定位：开源、离线优先、桌面原生、功能完备的中间地带 —— 既有商业产品的体验，又有开源软件的透明度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E"/>
                </a:solidFill>
                <a:latin typeface="Microsoft YaHei"/>
              </a:defRPr>
            </a:pPr>
            <a: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Microsoft YaHei"/>
              </a:defRPr>
            </a:pPr>
            <a:r>
              <a:t>核心功能（一）— 任务管理与组织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E"/>
                </a:solidFill>
                <a:latin typeface="Microsoft YaHei"/>
              </a:defRPr>
            </a:pPr>
            <a:r>
              <a:t>优先级 · 日期 · 置顶 · 子任务 · 备注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7160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6EF7"/>
                </a:solidFill>
                <a:latin typeface="Microsoft YaHei"/>
              </a:defRPr>
            </a:pPr>
            <a:r>
              <a:t>📝 任务 CRUD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20"/>
            <a:ext cx="32461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添加：回车快捷 / 按钮提交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编辑：双击触发 inline 编辑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删除：悬停 × 按钮 + 撤销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空文本自动删除，逻辑严谨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37160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55448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6EF7"/>
                </a:solidFill>
                <a:latin typeface="Microsoft YaHei"/>
              </a:defRPr>
            </a:pPr>
            <a:r>
              <a:t>🔴🟠⚪ 三级优先级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874520"/>
            <a:ext cx="32461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高（红）/ 中（橙）/ 低（灰）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左侧彩色边框，一目了然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按优先级排序时快速识别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无优先级选项保持灵活性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55448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6EF7"/>
                </a:solidFill>
                <a:latin typeface="Microsoft YaHei"/>
              </a:defRPr>
            </a:pPr>
            <a:r>
              <a:t>📅 智能日期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874520"/>
            <a:ext cx="32461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原生日期选择器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相对日期：今天 / 明天 / 逾期 X 天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逾期红色、今天橙色、未来蓝色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三种颜色标签直观区分紧急程度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388620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06908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6EF7"/>
                </a:solidFill>
                <a:latin typeface="Microsoft YaHei"/>
              </a:defRPr>
            </a:pPr>
            <a:r>
              <a:t>📌 置顶 &amp; 📝 备注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389120"/>
            <a:ext cx="32461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图钉按钮一键置顶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置顶项始终排在列表最前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备注区域实时保存文字说明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展开/折叠按钮控制显隐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388620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406908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6EF7"/>
                </a:solidFill>
                <a:latin typeface="Microsoft YaHei"/>
              </a:defRPr>
            </a:pPr>
            <a:r>
              <a:t>✅ 子任务系统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4389120"/>
            <a:ext cx="32461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展开式嵌套清单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独立勾选 &amp; 删除子任务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进度统计：2/5 已完成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全部完成时徽标变绿色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406908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6EF7"/>
                </a:solidFill>
                <a:latin typeface="Microsoft YaHei"/>
              </a:defRPr>
            </a:pPr>
            <a:r>
              <a:t>↩️ 撤销 &amp; 恢复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389120"/>
            <a:ext cx="32461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删除后 4 秒弹性 Toast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点击「撤销」恢复任务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包含子任务和数据完整还原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超时自动确认删除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E"/>
                </a:solidFill>
                <a:latin typeface="Microsoft YaHei"/>
              </a:defRPr>
            </a:pPr>
            <a: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Microsoft YaHei"/>
              </a:defRPr>
            </a:pPr>
            <a:r>
              <a:t>核心功能（二）— 效率与视觉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E"/>
                </a:solidFill>
                <a:latin typeface="Microsoft YaHei"/>
              </a:defRPr>
            </a:pPr>
            <a:r>
              <a:t>搜索 · 排序 · 暗色模式 · 导入导出 · 彩带庆祝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7160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6EF7"/>
                </a:solidFill>
                <a:latin typeface="Microsoft YaHei"/>
              </a:defRPr>
            </a:pPr>
            <a:r>
              <a:t>🔍 实时搜索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20"/>
            <a:ext cx="32461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Ctrl+K 快捷键聚焦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实时文本模糊匹配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与状态筛选联动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搜索词为空时恢复全量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37160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55448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6EF7"/>
                </a:solidFill>
                <a:latin typeface="Microsoft YaHei"/>
              </a:defRPr>
            </a:pPr>
            <a:r>
              <a:t>↕️ 三种排序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874520"/>
            <a:ext cx="32461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手动拖拽：HTML5 Drag &amp; Drop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按优先级：高→中→低→无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按日期：逾期→今天→未来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置顶项不受排序影响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55448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6EF7"/>
                </a:solidFill>
                <a:latin typeface="Microsoft YaHei"/>
              </a:defRPr>
            </a:pPr>
            <a:r>
              <a:t>🌓 暗色模式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874520"/>
            <a:ext cx="32461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CSS 变量双层主题系统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自动检测系统偏好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手动切换持久化到 localStorage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无闪烁（FOUC Prevention）注入脚本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388620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06908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6EF7"/>
                </a:solidFill>
                <a:latin typeface="Microsoft YaHei"/>
              </a:defRPr>
            </a:pPr>
            <a:r>
              <a:t>📦 导入导出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389120"/>
            <a:ext cx="32461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导出：一键下载 JSON 备份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导入：选择文件智能合并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同 ID 覆盖更新、新 ID 追加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格式验证 + 错误提示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388620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406908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6EF7"/>
                </a:solidFill>
                <a:latin typeface="Microsoft YaHei"/>
              </a:defRPr>
            </a:pPr>
            <a:r>
              <a:t>🎉 彩带庆祝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4389120"/>
            <a:ext cx="32461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全部任务完成时触发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60 个随机颜色形状粒子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从屏幕上方飘落 + 旋转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3 秒后自动清除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406908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6EF7"/>
                </a:solidFill>
                <a:latin typeface="Microsoft YaHei"/>
              </a:defRPr>
            </a:pPr>
            <a:r>
              <a:t>💧 交互细节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389120"/>
            <a:ext cx="32461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按钮涟漪：点击位置扩散波纹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复选框弹跳：勾选缩放动画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输入抖动：空提交反馈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进度条脉冲：变化时高亮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E"/>
                </a:solidFill>
                <a:latin typeface="Microsoft YaHei"/>
              </a:defRPr>
            </a:pPr>
            <a: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界面设计与交互体验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E"/>
                </a:solidFill>
                <a:latin typeface="Microsoft YaHei"/>
              </a:defRPr>
            </a:pPr>
            <a:r>
              <a:t>基于设计原则构建的现代 UI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463040"/>
            <a:ext cx="5029200" cy="4754880"/>
          </a:xfrm>
          <a:prstGeom prst="roundRect">
            <a:avLst>
              <a:gd name="adj" fmla="val 2000"/>
            </a:avLst>
          </a:prstGeom>
          <a:solidFill>
            <a:srgbClr val="252540"/>
          </a:solidFill>
          <a:ln w="10160">
            <a:solidFill>
              <a:srgbClr val="3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463040"/>
            <a:ext cx="5029200" cy="411480"/>
          </a:xfrm>
          <a:prstGeom prst="roundRect">
            <a:avLst>
              <a:gd name="adj" fmla="val 2000"/>
            </a:avLst>
          </a:prstGeom>
          <a:solidFill>
            <a:srgbClr val="1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53619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onsolas"/>
              </a:defRPr>
            </a:pPr>
            <a:r>
              <a:t>ds_todo</a:t>
            </a:r>
          </a:p>
        </p:txBody>
      </p:sp>
      <p:sp>
        <p:nvSpPr>
          <p:cNvPr id="8" name="Oval 7"/>
          <p:cNvSpPr/>
          <p:nvPr/>
        </p:nvSpPr>
        <p:spPr>
          <a:xfrm>
            <a:off x="5394960" y="1572768"/>
            <a:ext cx="137160" cy="137160"/>
          </a:xfrm>
          <a:prstGeom prst="ellipse">
            <a:avLst/>
          </a:prstGeom>
          <a:solidFill>
            <a:srgbClr val="555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9280" y="1572768"/>
            <a:ext cx="137160" cy="137160"/>
          </a:xfrm>
          <a:prstGeom prst="ellipse">
            <a:avLst/>
          </a:prstGeom>
          <a:solidFill>
            <a:srgbClr val="555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0" y="1572768"/>
            <a:ext cx="137160" cy="137160"/>
          </a:xfrm>
          <a:prstGeom prst="ellipse">
            <a:avLst/>
          </a:prstGeom>
          <a:solidFill>
            <a:srgbClr val="555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51560" y="2011680"/>
            <a:ext cx="4754880" cy="502920"/>
          </a:xfrm>
          <a:prstGeom prst="roundRect">
            <a:avLst>
              <a:gd name="adj" fmla="val 2000"/>
            </a:avLst>
          </a:prstGeom>
          <a:solidFill>
            <a:srgbClr val="2A2A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51560" y="2651760"/>
            <a:ext cx="1371600" cy="274320"/>
          </a:xfrm>
          <a:prstGeom prst="roundRect">
            <a:avLst>
              <a:gd name="adj" fmla="val 10000"/>
            </a:avLst>
          </a:prstGeom>
          <a:solidFill>
            <a:srgbClr val="2A2A48"/>
          </a:solidFill>
          <a:ln w="1016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06039" y="2651760"/>
            <a:ext cx="1371600" cy="274320"/>
          </a:xfrm>
          <a:prstGeom prst="roundRect">
            <a:avLst>
              <a:gd name="adj" fmla="val 10000"/>
            </a:avLst>
          </a:prstGeom>
          <a:solidFill>
            <a:srgbClr val="2A2A48"/>
          </a:solidFill>
          <a:ln w="1016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160520" y="2651760"/>
            <a:ext cx="1371600" cy="274320"/>
          </a:xfrm>
          <a:prstGeom prst="roundRect">
            <a:avLst>
              <a:gd name="adj" fmla="val 10000"/>
            </a:avLst>
          </a:prstGeom>
          <a:solidFill>
            <a:srgbClr val="2A2A48"/>
          </a:solidFill>
          <a:ln w="10160">
            <a:solidFill>
              <a:srgbClr val="8C8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51560" y="3108960"/>
            <a:ext cx="4754880" cy="594360"/>
          </a:xfrm>
          <a:prstGeom prst="roundRect">
            <a:avLst>
              <a:gd name="adj" fmla="val 2000"/>
            </a:avLst>
          </a:prstGeom>
          <a:solidFill>
            <a:srgbClr val="1E1E35"/>
          </a:solidFill>
          <a:ln w="1016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34440" y="3246120"/>
            <a:ext cx="201168" cy="201168"/>
          </a:xfrm>
          <a:prstGeom prst="ellipse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600200" y="3291840"/>
            <a:ext cx="2286000" cy="109728"/>
          </a:xfrm>
          <a:prstGeom prst="rect">
            <a:avLst/>
          </a:prstGeom>
          <a:solidFill>
            <a:srgbClr val="4A4A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51560" y="3108960"/>
            <a:ext cx="36576" cy="59436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51560" y="3840480"/>
            <a:ext cx="4754880" cy="594360"/>
          </a:xfrm>
          <a:prstGeom prst="roundRect">
            <a:avLst>
              <a:gd name="adj" fmla="val 2000"/>
            </a:avLst>
          </a:prstGeom>
          <a:solidFill>
            <a:srgbClr val="1E1E35"/>
          </a:solidFill>
          <a:ln w="1016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234440" y="3977640"/>
            <a:ext cx="201168" cy="201168"/>
          </a:xfrm>
          <a:prstGeom prst="ellipse">
            <a:avLst/>
          </a:prstGeom>
          <a:solidFill>
            <a:srgbClr val="3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600200" y="4023360"/>
            <a:ext cx="2286000" cy="109728"/>
          </a:xfrm>
          <a:prstGeom prst="rect">
            <a:avLst/>
          </a:prstGeom>
          <a:solidFill>
            <a:srgbClr val="4A4A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51560" y="3840480"/>
            <a:ext cx="36576" cy="59436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51560" y="4572000"/>
            <a:ext cx="4754880" cy="594360"/>
          </a:xfrm>
          <a:prstGeom prst="roundRect">
            <a:avLst>
              <a:gd name="adj" fmla="val 2000"/>
            </a:avLst>
          </a:prstGeom>
          <a:solidFill>
            <a:srgbClr val="1E1E35"/>
          </a:solidFill>
          <a:ln w="10160">
            <a:solidFill>
              <a:srgbClr val="8C8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234440" y="4709160"/>
            <a:ext cx="201168" cy="201168"/>
          </a:xfrm>
          <a:prstGeom prst="ellipse">
            <a:avLst/>
          </a:prstGeom>
          <a:solidFill>
            <a:srgbClr val="3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600200" y="4754880"/>
            <a:ext cx="2286000" cy="109728"/>
          </a:xfrm>
          <a:prstGeom prst="rect">
            <a:avLst/>
          </a:prstGeom>
          <a:solidFill>
            <a:srgbClr val="4A4A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51560" y="4572000"/>
            <a:ext cx="36576" cy="594360"/>
          </a:xfrm>
          <a:prstGeom prst="rect">
            <a:avLst/>
          </a:prstGeom>
          <a:solidFill>
            <a:srgbClr val="8C8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51560" y="5303520"/>
            <a:ext cx="4754880" cy="594360"/>
          </a:xfrm>
          <a:prstGeom prst="roundRect">
            <a:avLst>
              <a:gd name="adj" fmla="val 2000"/>
            </a:avLst>
          </a:prstGeom>
          <a:solidFill>
            <a:srgbClr val="1E1E35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234440" y="5440680"/>
            <a:ext cx="201168" cy="201168"/>
          </a:xfrm>
          <a:prstGeom prst="ellipse">
            <a:avLst/>
          </a:prstGeom>
          <a:solidFill>
            <a:srgbClr val="3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600200" y="5486400"/>
            <a:ext cx="2286000" cy="109728"/>
          </a:xfrm>
          <a:prstGeom prst="rect">
            <a:avLst/>
          </a:prstGeom>
          <a:solidFill>
            <a:srgbClr val="4A4A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F6EF7"/>
                </a:solidFill>
                <a:latin typeface="Microsoft YaHei"/>
              </a:defRPr>
            </a:pPr>
            <a:r>
              <a:t>设计原则</a:t>
            </a:r>
          </a:p>
        </p:txBody>
      </p:sp>
      <p:sp>
        <p:nvSpPr>
          <p:cNvPr id="31" name="Oval 30"/>
          <p:cNvSpPr/>
          <p:nvPr/>
        </p:nvSpPr>
        <p:spPr>
          <a:xfrm>
            <a:off x="6583680" y="2029968"/>
            <a:ext cx="201168" cy="201168"/>
          </a:xfrm>
          <a:prstGeom prst="ellipse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20116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渐进式信息披露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224028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核心操作一目了然，高级功能（子任务/备注）默认折叠，减少认知负荷。</a:t>
            </a:r>
          </a:p>
        </p:txBody>
      </p:sp>
      <p:sp>
        <p:nvSpPr>
          <p:cNvPr id="34" name="Oval 33"/>
          <p:cNvSpPr/>
          <p:nvPr/>
        </p:nvSpPr>
        <p:spPr>
          <a:xfrm>
            <a:off x="6583680" y="2807208"/>
            <a:ext cx="201168" cy="201168"/>
          </a:xfrm>
          <a:prstGeom prst="ellipse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03720" y="27889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即时反馈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3017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每个操作都有动画反馈——涟漪、弹跳、脉冲、抖动——让用户感知系统状态。</a:t>
            </a:r>
          </a:p>
        </p:txBody>
      </p:sp>
      <p:sp>
        <p:nvSpPr>
          <p:cNvPr id="37" name="Oval 36"/>
          <p:cNvSpPr/>
          <p:nvPr/>
        </p:nvSpPr>
        <p:spPr>
          <a:xfrm>
            <a:off x="6583680" y="3584448"/>
            <a:ext cx="201168" cy="201168"/>
          </a:xfrm>
          <a:prstGeom prst="ellipse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35661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一致性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379476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所有颜色、间距、圆角、阴影通过 CSS 变量统一管理。暗色模式与亮色模式像素级一致。</a:t>
            </a:r>
          </a:p>
        </p:txBody>
      </p:sp>
      <p:sp>
        <p:nvSpPr>
          <p:cNvPr id="40" name="Oval 39"/>
          <p:cNvSpPr/>
          <p:nvPr/>
        </p:nvSpPr>
        <p:spPr>
          <a:xfrm>
            <a:off x="6583680" y="4361688"/>
            <a:ext cx="201168" cy="201168"/>
          </a:xfrm>
          <a:prstGeom prst="ellipse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03720" y="43434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容错性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03720" y="45720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删除可撤销（4秒 Toast），空文本自动清理，导入格式校验。用户不会因误操作导致数据丢失。</a:t>
            </a:r>
          </a:p>
        </p:txBody>
      </p:sp>
      <p:sp>
        <p:nvSpPr>
          <p:cNvPr id="43" name="Oval 42"/>
          <p:cNvSpPr/>
          <p:nvPr/>
        </p:nvSpPr>
        <p:spPr>
          <a:xfrm>
            <a:off x="6583680" y="5138928"/>
            <a:ext cx="201168" cy="201168"/>
          </a:xfrm>
          <a:prstGeom prst="ellipse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03720" y="51206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本地优先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03720" y="53492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所有数据存储在 localStorage，无网络依赖，无隐私风险。导出 JSON 提供额外的数据控制权。</a:t>
            </a:r>
          </a:p>
        </p:txBody>
      </p:sp>
      <p:sp>
        <p:nvSpPr>
          <p:cNvPr id="46" name="Oval 45"/>
          <p:cNvSpPr/>
          <p:nvPr/>
        </p:nvSpPr>
        <p:spPr>
          <a:xfrm>
            <a:off x="6583680" y="5916168"/>
            <a:ext cx="201168" cy="201168"/>
          </a:xfrm>
          <a:prstGeom prst="ellipse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03720" y="58978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性能意识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03720" y="612648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framer-motion layout 动画使用 GPU 加速，useMemo 优化排序/筛选，AnimatePresence 处理列表变更。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E"/>
                </a:solidFill>
                <a:latin typeface="Microsoft YaHei"/>
              </a:defRPr>
            </a:pPr>
            <a: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Microsoft YaHei"/>
              </a:defRPr>
            </a:pPr>
            <a:r>
              <a:t>技术架构详解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E"/>
                </a:solidFill>
                <a:latin typeface="Microsoft YaHei"/>
              </a:defRPr>
            </a:pPr>
            <a:r>
              <a:t>前端 → 状态 → 持久化 → 桌面 → 打包，完整技术链路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3840480" cy="82296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0160">
            <a:solidFill>
              <a:srgbClr val="4F6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508760"/>
            <a:ext cx="320040" cy="320040"/>
          </a:xfrm>
          <a:prstGeom prst="ellipse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3258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Microsoft YaHei"/>
              </a:defRPr>
            </a:pPr>
            <a:r>
              <a:t>桌面壳层 (Electron 42)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7276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main.js 主进程 + preload.js 预加载</a:t>
            </a:r>
          </a:p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electron-builder 打包为 portable.exe (131 MB)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40280"/>
            <a:ext cx="3840480" cy="82296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0160">
            <a:solidFill>
              <a:srgbClr val="6C8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2468880"/>
            <a:ext cx="320040" cy="320040"/>
          </a:xfrm>
          <a:prstGeom prst="ellipse">
            <a:avLst/>
          </a:prstGeom>
          <a:solidFill>
            <a:srgbClr val="6C8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4144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2860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Microsoft YaHei"/>
              </a:defRPr>
            </a:pPr>
            <a:r>
              <a:t>渲染层 (Next.js 16 App Router)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53288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layout.tsx 根布局 + page.tsx 主页面</a:t>
            </a:r>
          </a:p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framer-motion 动画引擎 + Tailwind v4 样式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00400"/>
            <a:ext cx="3840480" cy="82296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016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429000"/>
            <a:ext cx="320040" cy="32004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40156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2461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Microsoft YaHei"/>
              </a:defRPr>
            </a:pPr>
            <a:r>
              <a:t>组件层 (9 Components)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49300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Header / TodoInput / Toolbar / ProgressBar /</a:t>
            </a:r>
          </a:p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TodoList / TodoItem / SubtaskSection / Toast / Confetti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160520"/>
            <a:ext cx="3840480" cy="82296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016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4389120"/>
            <a:ext cx="320040" cy="320040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36168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206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Microsoft YaHei"/>
              </a:defRPr>
            </a:pPr>
            <a:r>
              <a:t>状态层 (3 Hooks + 1 Utility)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45312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useTodos → CRUD + localStorage</a:t>
            </a:r>
          </a:p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useTheme → 暗色模式 + 防闪烁</a:t>
            </a:r>
          </a:p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useUndo → 撤销栈 + 自动消失</a:t>
            </a:r>
          </a:p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sortUtils → 排序算法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120640"/>
            <a:ext cx="3840480" cy="82296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016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0080" y="5349240"/>
            <a:ext cx="320040" cy="32004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32180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1663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Microsoft YaHei"/>
              </a:defRPr>
            </a:pPr>
            <a:r>
              <a:t>数据层 (localStorage + JSON)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41324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todosV2 键名，自动迁移旧数据</a:t>
            </a:r>
          </a:p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JSON 导出备份 + 导入合并（按 ID 去重）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0" y="1280160"/>
            <a:ext cx="7132320" cy="5029200"/>
          </a:xfrm>
          <a:prstGeom prst="roundRect">
            <a:avLst>
              <a:gd name="adj" fmla="val 3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0" y="1371600"/>
            <a:ext cx="6675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  <a:r>
              <a:t>/* ── 数据模型 (src/types/index.ts) ── */</a:t>
            </a:r>
          </a:p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  <a:r>
              <a:t>interface Todo {</a:t>
            </a:r>
          </a:p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  <a:r>
              <a:t>  id: number;         text: string;</a:t>
            </a:r>
          </a:p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  <a:r>
              <a:t>  done: boolean;      priority: "" | "high" | "medium" | "low";</a:t>
            </a:r>
          </a:p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  <a:r>
              <a:t>  dueDate: string;    order: number;</a:t>
            </a:r>
          </a:p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  <a:r>
              <a:t>  pinned: boolean;    note: string;</a:t>
            </a:r>
          </a:p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  <a:r>
              <a:t>  subtasks: { id: number; text: string; done: boolean }[];</a:t>
            </a:r>
          </a:p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  <a:r>
              <a:t>}</a:t>
            </a:r>
          </a:p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</a:p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  <a:r>
              <a:t>/* ── 核心 Hook (src/hooks/useTodos.ts) ── */</a:t>
            </a:r>
          </a:p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  <a:r>
              <a:t>export function useTodos() {</a:t>
            </a:r>
          </a:p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  <a:r>
              <a:t>  const [todos, setTodos] = useState&lt;Todo[]&gt;([]);</a:t>
            </a:r>
          </a:p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  <a:r>
              <a:t>  useEffect(() =&gt; { setTodos(loadTodos()); setMounted(true); }, []);</a:t>
            </a:r>
          </a:p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  <a:r>
              <a:t>  const save = (next: Todo[]) =&gt; { setTodos(next); saveTodos(next); };</a:t>
            </a:r>
          </a:p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  <a:r>
              <a:t>  // CRUD operations: addTodo, toggleTodo, deleteTodo,</a:t>
            </a:r>
          </a:p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  <a:r>
              <a:t>  //   updateTodoText, togglePin, updateNote,</a:t>
            </a:r>
          </a:p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  <a:r>
              <a:t>  //   addSubtask, toggleSubtask, deleteSubtask,</a:t>
            </a:r>
          </a:p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  <a:r>
              <a:t>  //   reorder, clearCompleted, restoreTodo, importTodos</a:t>
            </a:r>
          </a:p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  <a:r>
              <a:t>  return { todos, mounted, addTodo, toggleTodo, ... };</a:t>
            </a:r>
          </a:p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  <a:r>
              <a:t>}</a:t>
            </a:r>
          </a:p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</a:p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  <a:r>
              <a:t>/* ── 主题切换 (src/hooks/useTheme.ts) ── */</a:t>
            </a:r>
          </a:p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  <a:r>
              <a:t>function applyTheme(theme: "light" | "dark") {</a:t>
            </a:r>
          </a:p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  <a:r>
              <a:t>  document.documentElement.setAttribute("data-theme", theme);</a:t>
            </a:r>
          </a:p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  <a:r>
              <a:t>}</a:t>
            </a:r>
          </a:p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</a:p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  <a:r>
              <a:t>/* ── Electron 主进程 (electron/main.js) ── */</a:t>
            </a:r>
          </a:p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  <a:r>
              <a:t>const win = new BrowserWindow({</a:t>
            </a:r>
          </a:p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  <a:r>
              <a:t>  width: 900, height: 750, autoHideMenuBar: true,</a:t>
            </a:r>
          </a:p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  <a:r>
              <a:t>  webPreferences: { preload, contextIsolation: true }</a:t>
            </a:r>
          </a:p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  <a:r>
              <a:t>});</a:t>
            </a:r>
          </a:p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  <a:r>
              <a:t>if (isDev) win.loadURL("http://localhost:3000");</a:t>
            </a:r>
          </a:p>
          <a:p>
            <a:pPr>
              <a:spcAft>
                <a:spcPts val="142"/>
              </a:spcAft>
              <a:defRPr sz="950">
                <a:solidFill>
                  <a:srgbClr val="C8C8D8"/>
                </a:solidFill>
                <a:latin typeface="Consolas"/>
              </a:defRPr>
            </a:pPr>
            <a:r>
              <a:t>else win.loadFile("out/index.html");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E"/>
                </a:solidFill>
                <a:latin typeface="Microsoft YaHei"/>
              </a:defRPr>
            </a:pPr>
            <a: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技术栈全景图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E"/>
                </a:solidFill>
                <a:latin typeface="Microsoft YaHei"/>
              </a:defRPr>
            </a:pPr>
            <a:r>
              <a:t>从代码到可执行文件的技术选型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3566160" cy="219456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 w="10160">
            <a:solidFill>
              <a:srgbClr val="4F6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F6EF7"/>
                </a:solidFill>
                <a:latin typeface="Microsoft YaHei"/>
              </a:defRPr>
            </a:pPr>
            <a:r>
              <a:t>Next.js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icrosoft YaHei"/>
              </a:defRPr>
            </a:pPr>
            <a:r>
              <a:t>App Router 架构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icrosoft YaHei"/>
              </a:defRPr>
            </a:pPr>
            <a:r>
              <a:t>React Server Components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icrosoft YaHei"/>
              </a:defRPr>
            </a:pPr>
            <a:r>
              <a:t>Static Export 支持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63040"/>
            <a:ext cx="3566160" cy="219456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 w="10160">
            <a:solidFill>
              <a:srgbClr val="6C8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6002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C83F7"/>
                </a:solidFill>
                <a:latin typeface="Microsoft YaHei"/>
              </a:defRPr>
            </a:pPr>
            <a:r>
              <a:t>TypeScript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96596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icrosoft YaHei"/>
              </a:defRPr>
            </a:pPr>
            <a:r>
              <a:t>strict 模式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icrosoft YaHei"/>
              </a:defRPr>
            </a:pPr>
            <a:r>
              <a:t>完整类型定义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icrosoft YaHei"/>
              </a:defRPr>
            </a:pPr>
            <a:r>
              <a:t>19 个源文件类型安全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63040"/>
            <a:ext cx="3566160" cy="219456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 w="1016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6002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Microsoft YaHei"/>
              </a:defRPr>
            </a:pPr>
            <a:r>
              <a:t>Tailwind CSS v4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196596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icrosoft YaHei"/>
              </a:defRPr>
            </a:pPr>
            <a:r>
              <a:t>原子化样式类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icrosoft YaHei"/>
              </a:defRPr>
            </a:pPr>
            <a:r>
              <a:t>CSS 变量主题系统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icrosoft YaHei"/>
              </a:defRPr>
            </a:pPr>
            <a:r>
              <a:t>自定义 @keyframes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31920"/>
            <a:ext cx="3566160" cy="219456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 w="1016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Microsoft YaHei"/>
              </a:defRPr>
            </a:pPr>
            <a:r>
              <a:t>framer-motion 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3484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icrosoft YaHei"/>
              </a:defRPr>
            </a:pPr>
            <a:r>
              <a:t>AnimatePresence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icrosoft YaHei"/>
              </a:defRPr>
            </a:pPr>
            <a:r>
              <a:t>layout FLIP 动画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icrosoft YaHei"/>
              </a:defRPr>
            </a:pPr>
            <a:r>
              <a:t>spring 弹性缓动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3931920"/>
            <a:ext cx="3566160" cy="219456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 w="1016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40690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B59B6"/>
                </a:solidFill>
                <a:latin typeface="Microsoft YaHei"/>
              </a:defRPr>
            </a:pPr>
            <a:r>
              <a:t>Electron 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43484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icrosoft YaHei"/>
              </a:defRPr>
            </a:pPr>
            <a:r>
              <a:t>BrowserWindow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icrosoft YaHei"/>
              </a:defRPr>
            </a:pPr>
            <a:r>
              <a:t>contextIsolation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icrosoft YaHei"/>
              </a:defRPr>
            </a:pPr>
            <a:r>
              <a:t>autoHideMenuBar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931920"/>
            <a:ext cx="3566160" cy="219456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 w="1016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0690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Microsoft YaHei"/>
              </a:defRPr>
            </a:pPr>
            <a:r>
              <a:t>electron-builder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43484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icrosoft YaHei"/>
              </a:defRPr>
            </a:pPr>
            <a:r>
              <a:t>Portable 单文件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icrosoft YaHei"/>
              </a:defRPr>
            </a:pPr>
            <a:r>
              <a:t>NSIS 安装程序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icrosoft YaHei"/>
              </a:defRPr>
            </a:pPr>
            <a:r>
              <a:t>自动签名 &amp; 压缩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E"/>
                </a:solidFill>
                <a:latin typeface="Microsoft YaHei"/>
              </a:defRPr>
            </a:pPr>
            <a: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Microsoft YaHei"/>
              </a:defRPr>
            </a:pPr>
            <a:r>
              <a:t>技术创新点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E"/>
                </a:solidFill>
                <a:latin typeface="Microsoft YaHei"/>
              </a:defRPr>
            </a:pPr>
            <a:r>
              <a:t>在工程实现和用户体验层面的创新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557784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F6EF7"/>
                </a:solidFill>
                <a:latin typeface="Microsoft YaHei"/>
              </a:defRPr>
            </a:pPr>
            <a:r>
              <a:t>🏗️ 无依赖状态管理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不使用 Redux/Zustand/Jotai 等状态库，仅用 React useState + useCallback + props 传递实现完整状态流。依赖数量极简（仅 framer-motion 一个运行时依赖），代码透明可控，适合教学和二次开发。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57784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F6EF7"/>
                </a:solidFill>
                <a:latin typeface="Microsoft YaHei"/>
              </a:defRPr>
            </a:pPr>
            <a:r>
              <a:t>🎨 CSS 变量双层主题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放弃 Tailwind dark: 媒体查询方案，自研 data-theme 属性方案。layout.tsx 注入阻塞式内联 &lt;script&gt; 在 DOM 解析前应用主题，实现真正零闪烁的暗色模式切换。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017520"/>
            <a:ext cx="557784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20040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F6EF7"/>
                </a:solidFill>
                <a:latin typeface="Microsoft YaHei"/>
              </a:defRPr>
            </a:pPr>
            <a:r>
              <a:t>🌀 增量式 DOM 更新 + 动画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520440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并非简单 innerHTML 替换。对比当前 DOM 与目标数据，对保留项原地更新内容（animation: none 防重播），对新增项播放入场动画，对删除项先播放退场再移除。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017520"/>
            <a:ext cx="557784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320040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F6EF7"/>
                </a:solidFill>
                <a:latin typeface="Microsoft YaHei"/>
              </a:defRPr>
            </a:pPr>
            <a:r>
              <a:t>📋 子任务独立数据模型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520440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子任务并非简单的字符串数组，而是具备独立 id/text/done 字段的完整数据实体。支持独立勾选、删除、进度统计。父任务显示 2/5 完成度徽标，全部完成时变绿。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754879"/>
            <a:ext cx="557784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937759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F6EF7"/>
                </a:solidFill>
                <a:latin typeface="Microsoft YaHei"/>
              </a:defRPr>
            </a:pPr>
            <a:r>
              <a:t>🖥️ Electron 桌面化方案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57799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Next.js output: 'export' 生成纯静态文件，Electron 主进程 loadFile 加载。开发模式 concurrently 同时启动 Next.js 和 Electron，支持热更新。打包为单文件 portable exe，双击即用。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754879"/>
            <a:ext cx="557784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937759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F6EF7"/>
                </a:solidFill>
                <a:latin typeface="Microsoft YaHei"/>
              </a:defRPr>
            </a:pPr>
            <a:r>
              <a:t>💾 数据可移植性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257799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JSON 导出备份 + 导入智能合并（同 ID 覆盖、新 ID 追加）。localStorage 键名 todosV2，自动迁移旧版本数据字段。用户数据不绑定应用，随时可导出。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E"/>
                </a:solidFill>
                <a:latin typeface="Microsoft YaHei"/>
              </a:defRPr>
            </a:pPr>
            <a: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动画与微交互系统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E"/>
                </a:solidFill>
                <a:latin typeface="Microsoft YaHei"/>
              </a:defRPr>
            </a:pPr>
            <a:r>
              <a:t>10 种动画效果，提升用户体验感知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371600"/>
            <a:ext cx="2240280" cy="233172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55448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📥 列表入场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874520"/>
            <a:ext cx="1874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framer-motion initial/exit</a:t>
            </a:r>
          </a:p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slideIn: 从上方 20px 滑入</a:t>
            </a:r>
          </a:p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前 8 项交错延迟 30ms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40" y="1371600"/>
            <a:ext cx="2240280" cy="233172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88920" y="155448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📤 列表退场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1874520"/>
            <a:ext cx="1874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AnimatePresence exit</a:t>
            </a:r>
          </a:p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slideOut: 右移 40px + 收缩</a:t>
            </a:r>
          </a:p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动画结束后 DOM 移除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83480" y="1371600"/>
            <a:ext cx="2240280" cy="233172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66360" y="155448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☑️ 复选框弹跳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1874520"/>
            <a:ext cx="1874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CSS bounceCheck keyframe</a:t>
            </a:r>
          </a:p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scale 1 → 1.35 → 0.85 → 1</a:t>
            </a:r>
          </a:p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勾选时 350ms 弹性动画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1371600"/>
            <a:ext cx="2240280" cy="233172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43800" y="155448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💧 按钮涟漪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1874520"/>
            <a:ext cx="1874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动态生成 span 元素</a:t>
            </a:r>
          </a:p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CSS ripple: scale 4 + 淡出</a:t>
            </a:r>
          </a:p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600ms 后自动清理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38360" y="1371600"/>
            <a:ext cx="2240280" cy="233172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21240" y="155448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📊 进度条脉冲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1874520"/>
            <a:ext cx="1874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变化时 barPulse 高亮</a:t>
            </a:r>
          </a:p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全部完成时绿色渐变</a:t>
            </a:r>
          </a:p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framer-motion layout 过渡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" y="3931920"/>
            <a:ext cx="2240280" cy="233172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411480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🍞 Toast 弹性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4434840"/>
            <a:ext cx="1874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spring: stiffness 400 damping 28</a:t>
            </a:r>
          </a:p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从底部弹入回弹</a:t>
            </a:r>
          </a:p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4 秒后自动退出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06040" y="3931920"/>
            <a:ext cx="2240280" cy="233172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411480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🎪 彩带庆祝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4434840"/>
            <a:ext cx="1874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60 粒子 CSS confettiFall</a:t>
            </a:r>
          </a:p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随机颜色 (8 色) 形状 (5 种)</a:t>
            </a:r>
          </a:p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下落 + 720° 旋转 3 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83480" y="3931920"/>
            <a:ext cx="2240280" cy="233172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66360" y="411480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🌓 主题切换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66360" y="4434840"/>
            <a:ext cx="1874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按钮 spin360 旋转 500ms</a:t>
            </a:r>
          </a:p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body 背景 0.5s 过渡</a:t>
            </a:r>
          </a:p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所有颜色平滑切换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60920" y="3931920"/>
            <a:ext cx="2240280" cy="233172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43800" y="411480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🎯 菜单弹出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4434840"/>
            <a:ext cx="1874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scale(0.9) → scale(1)</a:t>
            </a:r>
          </a:p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opacity 0 → 1</a:t>
            </a:r>
          </a:p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200ms ease 缓入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38360" y="3931920"/>
            <a:ext cx="2240280" cy="233172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21240" y="411480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🖱️ 拖拽反馈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21240" y="4434840"/>
            <a:ext cx="1874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dragging: opacity 0.4 + scale 0.97</a:t>
            </a:r>
          </a:p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drag-over: 蓝色 2px 边框</a:t>
            </a:r>
          </a:p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drop 后重排 + 序号更新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E"/>
                </a:solidFill>
                <a:latin typeface="Microsoft YaHei"/>
              </a:defRPr>
            </a:pPr>
            <a: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Microsoft YaHei"/>
              </a:defRPr>
            </a:pPr>
            <a:r>
              <a:t>竞品对比分析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E"/>
                </a:solidFill>
                <a:latin typeface="Microsoft YaHei"/>
              </a:defRPr>
            </a:pPr>
            <a:r>
              <a:t>ds_todo vs 主流待办应用 — 功能维度全面对比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1371600" cy="320040"/>
          </a:xfrm>
          <a:prstGeom prst="rect">
            <a:avLst/>
          </a:prstGeom>
          <a:solidFill>
            <a:srgbClr val="4F6EF7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功能维度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1645920" y="1371600"/>
            <a:ext cx="1554480" cy="320040"/>
          </a:xfrm>
          <a:prstGeom prst="rect">
            <a:avLst/>
          </a:prstGeom>
          <a:solidFill>
            <a:srgbClr val="1A1A2E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ds_todo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371600"/>
            <a:ext cx="164592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A1A2E"/>
                </a:solidFill>
                <a:latin typeface="Microsoft YaHei"/>
              </a:defRPr>
            </a:pPr>
            <a:r>
              <a:t>微软 To Do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1371600"/>
            <a:ext cx="164592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A1A2E"/>
                </a:solidFill>
                <a:latin typeface="Microsoft YaHei"/>
              </a:defRPr>
            </a:pPr>
            <a:r>
              <a:t>Todoist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371600"/>
            <a:ext cx="164592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A1A2E"/>
                </a:solidFill>
                <a:latin typeface="Microsoft YaHei"/>
              </a:defRPr>
            </a:pPr>
            <a:r>
              <a:t>TickTick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371600"/>
            <a:ext cx="164592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A1A2E"/>
                </a:solidFill>
                <a:latin typeface="Microsoft YaHei"/>
              </a:defRPr>
            </a:pPr>
            <a:r>
              <a:t>Notion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91640"/>
            <a:ext cx="137160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A1A2E"/>
                </a:solidFill>
                <a:latin typeface="Microsoft YaHei"/>
              </a:defRPr>
            </a:pPr>
            <a:r>
              <a:t>桌面原生应用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45920" y="1691640"/>
            <a:ext cx="1554480" cy="320040"/>
          </a:xfrm>
          <a:prstGeom prst="rect">
            <a:avLst/>
          </a:prstGeom>
          <a:solidFill>
            <a:srgbClr val="EEF2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2ECC71"/>
                </a:solidFill>
                <a:latin typeface="Microsoft YaHei"/>
              </a:defRPr>
            </a:pPr>
            <a:r>
              <a:t>✅ 单文件 exe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1691640"/>
            <a:ext cx="164592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2ECC71"/>
                </a:solidFill>
                <a:latin typeface="Microsoft YaHei"/>
              </a:defRPr>
            </a:pPr>
            <a:r>
              <a:t>✅ Store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46320" y="1691640"/>
            <a:ext cx="164592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2ECC71"/>
                </a:solidFill>
                <a:latin typeface="Microsoft YaHei"/>
              </a:defRPr>
            </a:pPr>
            <a:r>
              <a:t>✅ Electron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1691640"/>
            <a:ext cx="164592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2ECC71"/>
                </a:solidFill>
                <a:latin typeface="Microsoft YaHei"/>
              </a:defRPr>
            </a:pPr>
            <a:r>
              <a:t>✅ Electron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691640"/>
            <a:ext cx="164592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2ECC71"/>
                </a:solidFill>
                <a:latin typeface="Microsoft YaHei"/>
              </a:defRPr>
            </a:pPr>
            <a:r>
              <a:t>✅ Electron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011680"/>
            <a:ext cx="137160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A1A2E"/>
                </a:solidFill>
                <a:latin typeface="Microsoft YaHei"/>
              </a:defRPr>
            </a:pPr>
            <a:r>
              <a:t>离线使用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45920" y="2011680"/>
            <a:ext cx="1554480" cy="320040"/>
          </a:xfrm>
          <a:prstGeom prst="rect">
            <a:avLst/>
          </a:prstGeom>
          <a:solidFill>
            <a:srgbClr val="EEF2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2ECC71"/>
                </a:solidFill>
                <a:latin typeface="Microsoft YaHei"/>
              </a:defRPr>
            </a:pPr>
            <a:r>
              <a:t>✅ 完全离线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2011680"/>
            <a:ext cx="164592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F39C12"/>
                </a:solidFill>
                <a:latin typeface="Microsoft YaHei"/>
              </a:defRPr>
            </a:pPr>
            <a:r>
              <a:t>⚠️ 有限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2011680"/>
            <a:ext cx="164592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F39C12"/>
                </a:solidFill>
                <a:latin typeface="Microsoft YaHei"/>
              </a:defRPr>
            </a:pPr>
            <a:r>
              <a:t>⚠️ 有限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2011680"/>
            <a:ext cx="164592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2ECC71"/>
                </a:solidFill>
                <a:latin typeface="Microsoft YaHei"/>
              </a:defRPr>
            </a:pPr>
            <a:r>
              <a:t>✅ 离线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2011680"/>
            <a:ext cx="164592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F39C12"/>
                </a:solidFill>
                <a:latin typeface="Microsoft YaHei"/>
              </a:defRPr>
            </a:pPr>
            <a:r>
              <a:t>⚠️ 有限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331720"/>
            <a:ext cx="137160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A1A2E"/>
                </a:solidFill>
                <a:latin typeface="Microsoft YaHei"/>
              </a:defRPr>
            </a:pPr>
            <a:r>
              <a:t>数据隐私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45920" y="2331720"/>
            <a:ext cx="1554480" cy="320040"/>
          </a:xfrm>
          <a:prstGeom prst="rect">
            <a:avLst/>
          </a:prstGeom>
          <a:solidFill>
            <a:srgbClr val="EEF2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2ECC71"/>
                </a:solidFill>
                <a:latin typeface="Microsoft YaHei"/>
              </a:defRPr>
            </a:pPr>
            <a:r>
              <a:t>✅ 本地存储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2331720"/>
            <a:ext cx="164592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E74C3C"/>
                </a:solidFill>
                <a:latin typeface="Microsoft YaHei"/>
              </a:defRPr>
            </a:pPr>
            <a:r>
              <a:t>❌ 云端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331720"/>
            <a:ext cx="164592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E74C3C"/>
                </a:solidFill>
                <a:latin typeface="Microsoft YaHei"/>
              </a:defRPr>
            </a:pPr>
            <a:r>
              <a:t>❌ 云端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2331720"/>
            <a:ext cx="164592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F39C12"/>
                </a:solidFill>
                <a:latin typeface="Microsoft YaHei"/>
              </a:defRPr>
            </a:pPr>
            <a:r>
              <a:t>⚠️ 混合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331720"/>
            <a:ext cx="164592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E74C3C"/>
                </a:solidFill>
                <a:latin typeface="Microsoft YaHei"/>
              </a:defRPr>
            </a:pPr>
            <a:r>
              <a:t>❌ 云端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2651760"/>
            <a:ext cx="137160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A1A2E"/>
                </a:solidFill>
                <a:latin typeface="Microsoft YaHei"/>
              </a:defRPr>
            </a:pPr>
            <a:r>
              <a:t>开源 &amp; 免费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45920" y="2651760"/>
            <a:ext cx="1554480" cy="320040"/>
          </a:xfrm>
          <a:prstGeom prst="rect">
            <a:avLst/>
          </a:prstGeom>
          <a:solidFill>
            <a:srgbClr val="EEF2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2ECC71"/>
                </a:solidFill>
                <a:latin typeface="Microsoft YaHei"/>
              </a:defRPr>
            </a:pPr>
            <a:r>
              <a:t>✅ MIT 开源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0" y="2651760"/>
            <a:ext cx="164592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2ECC71"/>
                </a:solidFill>
                <a:latin typeface="Microsoft YaHei"/>
              </a:defRPr>
            </a:pPr>
            <a:r>
              <a:t>✅ 免费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2651760"/>
            <a:ext cx="164592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F39C12"/>
                </a:solidFill>
                <a:latin typeface="Microsoft YaHei"/>
              </a:defRPr>
            </a:pPr>
            <a:r>
              <a:t>⚠️ 付费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92240" y="2651760"/>
            <a:ext cx="164592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F39C12"/>
                </a:solidFill>
                <a:latin typeface="Microsoft YaHei"/>
              </a:defRPr>
            </a:pPr>
            <a:r>
              <a:t>⚠️ 付费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60" y="2651760"/>
            <a:ext cx="164592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F39C12"/>
                </a:solidFill>
                <a:latin typeface="Microsoft YaHei"/>
              </a:defRPr>
            </a:pPr>
            <a:r>
              <a:t>⚠️ 付费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2971800"/>
            <a:ext cx="137160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A1A2E"/>
                </a:solidFill>
                <a:latin typeface="Microsoft YaHei"/>
              </a:defRPr>
            </a:pPr>
            <a:r>
              <a:t>三级优先级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645920" y="2971800"/>
            <a:ext cx="1554480" cy="320040"/>
          </a:xfrm>
          <a:prstGeom prst="rect">
            <a:avLst/>
          </a:prstGeom>
          <a:solidFill>
            <a:srgbClr val="EEF2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2ECC71"/>
                </a:solidFill>
                <a:latin typeface="Microsoft YaHei"/>
              </a:defRPr>
            </a:pPr>
            <a:r>
              <a:t>✅ 红/橙/灰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0" y="2971800"/>
            <a:ext cx="164592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F39C12"/>
                </a:solidFill>
                <a:latin typeface="Microsoft YaHei"/>
              </a:defRPr>
            </a:pPr>
            <a:r>
              <a:t>⭐ 仅星标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46320" y="2971800"/>
            <a:ext cx="164592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2ECC71"/>
                </a:solidFill>
                <a:latin typeface="Microsoft YaHei"/>
              </a:defRPr>
            </a:pPr>
            <a:r>
              <a:t>✅ 4级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92240" y="2971800"/>
            <a:ext cx="164592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2ECC71"/>
                </a:solidFill>
                <a:latin typeface="Microsoft YaHei"/>
              </a:defRPr>
            </a:pPr>
            <a:r>
              <a:t>✅ 3级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38160" y="2971800"/>
            <a:ext cx="164592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E74C3C"/>
                </a:solidFill>
                <a:latin typeface="Microsoft YaHei"/>
              </a:defRPr>
            </a:pPr>
            <a:r>
              <a:t>❌ 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3291840"/>
            <a:ext cx="137160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A1A2E"/>
                </a:solidFill>
                <a:latin typeface="Microsoft YaHei"/>
              </a:defRPr>
            </a:pPr>
            <a:r>
              <a:t>子任务系统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45920" y="3291840"/>
            <a:ext cx="1554480" cy="320040"/>
          </a:xfrm>
          <a:prstGeom prst="rect">
            <a:avLst/>
          </a:prstGeom>
          <a:solidFill>
            <a:srgbClr val="EEF2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2ECC71"/>
                </a:solidFill>
                <a:latin typeface="Microsoft YaHei"/>
              </a:defRPr>
            </a:pPr>
            <a:r>
              <a:t>✅ 完整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0" y="3291840"/>
            <a:ext cx="164592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2ECC71"/>
                </a:solidFill>
                <a:latin typeface="Microsoft YaHei"/>
              </a:defRPr>
            </a:pPr>
            <a:r>
              <a:t>✅ 步骤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46320" y="3291840"/>
            <a:ext cx="164592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2ECC71"/>
                </a:solidFill>
                <a:latin typeface="Microsoft YaHei"/>
              </a:defRPr>
            </a:pPr>
            <a:r>
              <a:t>✅ 完整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3291840"/>
            <a:ext cx="164592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2ECC71"/>
                </a:solidFill>
                <a:latin typeface="Microsoft YaHei"/>
              </a:defRPr>
            </a:pPr>
            <a:r>
              <a:t>✅ 完整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138160" y="3291840"/>
            <a:ext cx="164592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2ECC71"/>
                </a:solidFill>
                <a:latin typeface="Microsoft YaHei"/>
              </a:defRPr>
            </a:pPr>
            <a:r>
              <a:t>✅ 完整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3611880"/>
            <a:ext cx="137160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A1A2E"/>
                </a:solidFill>
                <a:latin typeface="Microsoft YaHei"/>
              </a:defRPr>
            </a:pPr>
            <a:r>
              <a:t>拖拽排序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645920" y="3611880"/>
            <a:ext cx="1554480" cy="320040"/>
          </a:xfrm>
          <a:prstGeom prst="rect">
            <a:avLst/>
          </a:prstGeom>
          <a:solidFill>
            <a:srgbClr val="EEF2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2ECC71"/>
                </a:solidFill>
                <a:latin typeface="Microsoft YaHei"/>
              </a:defRPr>
            </a:pPr>
            <a:r>
              <a:t>✅ 原生 DnD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00400" y="3611880"/>
            <a:ext cx="164592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2ECC71"/>
                </a:solidFill>
                <a:latin typeface="Microsoft YaHei"/>
              </a:defRPr>
            </a:pPr>
            <a:r>
              <a:t>✅ 支持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846320" y="3611880"/>
            <a:ext cx="164592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2ECC71"/>
                </a:solidFill>
                <a:latin typeface="Microsoft YaHei"/>
              </a:defRPr>
            </a:pPr>
            <a:r>
              <a:t>✅ 支持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92240" y="3611880"/>
            <a:ext cx="164592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2ECC71"/>
                </a:solidFill>
                <a:latin typeface="Microsoft YaHei"/>
              </a:defRPr>
            </a:pPr>
            <a:r>
              <a:t>✅ 支持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138160" y="3611880"/>
            <a:ext cx="164592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2ECC71"/>
                </a:solidFill>
                <a:latin typeface="Microsoft YaHei"/>
              </a:defRPr>
            </a:pPr>
            <a:r>
              <a:t>✅ 支持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3931920"/>
            <a:ext cx="137160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A1A2E"/>
                </a:solidFill>
                <a:latin typeface="Microsoft YaHei"/>
              </a:defRPr>
            </a:pPr>
            <a:r>
              <a:t>暗色模式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645920" y="3931920"/>
            <a:ext cx="1554480" cy="320040"/>
          </a:xfrm>
          <a:prstGeom prst="rect">
            <a:avLst/>
          </a:prstGeom>
          <a:solidFill>
            <a:srgbClr val="EEF2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2ECC71"/>
                </a:solidFill>
                <a:latin typeface="Microsoft YaHei"/>
              </a:defRPr>
            </a:pPr>
            <a:r>
              <a:t>✅ 零闪烁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00400" y="3931920"/>
            <a:ext cx="164592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2ECC71"/>
                </a:solidFill>
                <a:latin typeface="Microsoft YaHei"/>
              </a:defRPr>
            </a:pPr>
            <a:r>
              <a:t>✅ 支持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846320" y="3931920"/>
            <a:ext cx="164592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2ECC71"/>
                </a:solidFill>
                <a:latin typeface="Microsoft YaHei"/>
              </a:defRPr>
            </a:pPr>
            <a:r>
              <a:t>✅ 支持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92240" y="3931920"/>
            <a:ext cx="164592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2ECC71"/>
                </a:solidFill>
                <a:latin typeface="Microsoft YaHei"/>
              </a:defRPr>
            </a:pPr>
            <a:r>
              <a:t>✅ 支持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138160" y="3931920"/>
            <a:ext cx="164592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2ECC71"/>
                </a:solidFill>
                <a:latin typeface="Microsoft YaHei"/>
              </a:defRPr>
            </a:pPr>
            <a:r>
              <a:t>✅ 支持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4320" y="4251960"/>
            <a:ext cx="137160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A1A2E"/>
                </a:solidFill>
                <a:latin typeface="Microsoft YaHei"/>
              </a:defRPr>
            </a:pPr>
            <a:r>
              <a:t>撤销删除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45920" y="4251960"/>
            <a:ext cx="1554480" cy="320040"/>
          </a:xfrm>
          <a:prstGeom prst="rect">
            <a:avLst/>
          </a:prstGeom>
          <a:solidFill>
            <a:srgbClr val="EEF2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2ECC71"/>
                </a:solidFill>
                <a:latin typeface="Microsoft YaHei"/>
              </a:defRPr>
            </a:pPr>
            <a:r>
              <a:t>✅ 4秒 Toast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00400" y="4251960"/>
            <a:ext cx="164592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E74C3C"/>
                </a:solidFill>
                <a:latin typeface="Microsoft YaHei"/>
              </a:defRPr>
            </a:pPr>
            <a:r>
              <a:t>❌ 无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846320" y="4251960"/>
            <a:ext cx="164592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E74C3C"/>
                </a:solidFill>
                <a:latin typeface="Microsoft YaHei"/>
              </a:defRPr>
            </a:pPr>
            <a:r>
              <a:t>❌ 无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92240" y="4251960"/>
            <a:ext cx="164592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E74C3C"/>
                </a:solidFill>
                <a:latin typeface="Microsoft YaHei"/>
              </a:defRPr>
            </a:pPr>
            <a:r>
              <a:t>❌ 无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4251960"/>
            <a:ext cx="164592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2ECC71"/>
                </a:solidFill>
                <a:latin typeface="Microsoft YaHei"/>
              </a:defRPr>
            </a:pPr>
            <a:r>
              <a:t>✅ 有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4572000"/>
            <a:ext cx="137160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A1A2E"/>
                </a:solidFill>
                <a:latin typeface="Microsoft YaHei"/>
              </a:defRPr>
            </a:pPr>
            <a:r>
              <a:t>进度条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645920" y="4572000"/>
            <a:ext cx="1554480" cy="320040"/>
          </a:xfrm>
          <a:prstGeom prst="rect">
            <a:avLst/>
          </a:prstGeom>
          <a:solidFill>
            <a:srgbClr val="EEF2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2ECC71"/>
                </a:solidFill>
                <a:latin typeface="Microsoft YaHei"/>
              </a:defRPr>
            </a:pPr>
            <a:r>
              <a:t>✅ 动画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200400" y="4572000"/>
            <a:ext cx="164592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E74C3C"/>
                </a:solidFill>
                <a:latin typeface="Microsoft YaHei"/>
              </a:defRPr>
            </a:pPr>
            <a:r>
              <a:t>❌ 无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846320" y="4572000"/>
            <a:ext cx="164592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2ECC71"/>
                </a:solidFill>
                <a:latin typeface="Microsoft YaHei"/>
              </a:defRPr>
            </a:pPr>
            <a:r>
              <a:t>✅ 静态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492240" y="4572000"/>
            <a:ext cx="164592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2ECC71"/>
                </a:solidFill>
                <a:latin typeface="Microsoft YaHei"/>
              </a:defRPr>
            </a:pPr>
            <a:r>
              <a:t>✅ 静态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138160" y="4572000"/>
            <a:ext cx="164592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E74C3C"/>
                </a:solidFill>
                <a:latin typeface="Microsoft YaHei"/>
              </a:defRPr>
            </a:pPr>
            <a:r>
              <a:t>❌ 无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74320" y="4892040"/>
            <a:ext cx="137160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A1A2E"/>
                </a:solidFill>
                <a:latin typeface="Microsoft YaHei"/>
              </a:defRPr>
            </a:pPr>
            <a:r>
              <a:t>导入导出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645920" y="4892040"/>
            <a:ext cx="1554480" cy="320040"/>
          </a:xfrm>
          <a:prstGeom prst="rect">
            <a:avLst/>
          </a:prstGeom>
          <a:solidFill>
            <a:srgbClr val="EEF2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2ECC71"/>
                </a:solidFill>
                <a:latin typeface="Microsoft YaHei"/>
              </a:defRPr>
            </a:pPr>
            <a:r>
              <a:t>✅ JSON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200400" y="4892040"/>
            <a:ext cx="164592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E74C3C"/>
                </a:solidFill>
                <a:latin typeface="Microsoft YaHei"/>
              </a:defRPr>
            </a:pPr>
            <a:r>
              <a:t>❌ 有限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846320" y="4892040"/>
            <a:ext cx="164592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2ECC71"/>
                </a:solidFill>
                <a:latin typeface="Microsoft YaHei"/>
              </a:defRPr>
            </a:pPr>
            <a:r>
              <a:t>✅ 多格式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92240" y="4892040"/>
            <a:ext cx="164592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2ECC71"/>
                </a:solidFill>
                <a:latin typeface="Microsoft YaHei"/>
              </a:defRPr>
            </a:pPr>
            <a:r>
              <a:t>✅ 多格式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138160" y="4892040"/>
            <a:ext cx="164592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2ECC71"/>
                </a:solidFill>
                <a:latin typeface="Microsoft YaHei"/>
              </a:defRPr>
            </a:pPr>
            <a:r>
              <a:t>✅ 多格式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" y="5212080"/>
            <a:ext cx="137160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A1A2E"/>
                </a:solidFill>
                <a:latin typeface="Microsoft YaHei"/>
              </a:defRPr>
            </a:pPr>
            <a:r>
              <a:t>安装包体积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645920" y="5212080"/>
            <a:ext cx="1554480" cy="320040"/>
          </a:xfrm>
          <a:prstGeom prst="rect">
            <a:avLst/>
          </a:prstGeom>
          <a:solidFill>
            <a:srgbClr val="EEF2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A1A2E"/>
                </a:solidFill>
                <a:latin typeface="Microsoft YaHei"/>
              </a:defRPr>
            </a:pPr>
            <a:r>
              <a:t>131 MB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200400" y="5212080"/>
            <a:ext cx="164592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1A1A2E"/>
                </a:solidFill>
                <a:latin typeface="Microsoft YaHei"/>
              </a:defRPr>
            </a:pPr>
            <a:r>
              <a:t>~200 MB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846320" y="5212080"/>
            <a:ext cx="164592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1A1A2E"/>
                </a:solidFill>
                <a:latin typeface="Microsoft YaHei"/>
              </a:defRPr>
            </a:pPr>
            <a:r>
              <a:t>~250 MB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492240" y="5212080"/>
            <a:ext cx="164592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1A1A2E"/>
                </a:solidFill>
                <a:latin typeface="Microsoft YaHei"/>
              </a:defRPr>
            </a:pPr>
            <a:r>
              <a:t>~300 MB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138160" y="5212080"/>
            <a:ext cx="164592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1A1A2E"/>
                </a:solidFill>
                <a:latin typeface="Microsoft YaHei"/>
              </a:defRPr>
            </a:pPr>
            <a:r>
              <a:t>~350 MB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74320" y="5532120"/>
            <a:ext cx="137160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A1A2E"/>
                </a:solidFill>
                <a:latin typeface="Microsoft YaHei"/>
              </a:defRPr>
            </a:pPr>
            <a:r>
              <a:t>学习成本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645920" y="5532120"/>
            <a:ext cx="1554480" cy="320040"/>
          </a:xfrm>
          <a:prstGeom prst="rect">
            <a:avLst/>
          </a:prstGeom>
          <a:solidFill>
            <a:srgbClr val="EEF2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39C12"/>
                </a:solidFill>
                <a:latin typeface="Microsoft YaHei"/>
              </a:defRPr>
            </a:pPr>
            <a:r>
              <a:t>⭐ 极低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200400" y="5532120"/>
            <a:ext cx="164592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F39C12"/>
                </a:solidFill>
                <a:latin typeface="Microsoft YaHei"/>
              </a:defRPr>
            </a:pPr>
            <a:r>
              <a:t>⭐⭐ 低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846320" y="5532120"/>
            <a:ext cx="164592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F39C12"/>
                </a:solidFill>
                <a:latin typeface="Microsoft YaHei"/>
              </a:defRPr>
            </a:pPr>
            <a:r>
              <a:t>⭐⭐⭐ 中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492240" y="5532120"/>
            <a:ext cx="164592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F39C12"/>
                </a:solidFill>
                <a:latin typeface="Microsoft YaHei"/>
              </a:defRPr>
            </a:pPr>
            <a:r>
              <a:t>⭐⭐⭐ 中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138160" y="5532120"/>
            <a:ext cx="1645920" cy="320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F39C12"/>
                </a:solidFill>
                <a:latin typeface="Microsoft YaHei"/>
              </a:defRPr>
            </a:pPr>
            <a:r>
              <a:t>⭐⭐⭐⭐ 高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74320" y="5852160"/>
            <a:ext cx="137160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A1A2E"/>
                </a:solidFill>
                <a:latin typeface="Microsoft YaHei"/>
              </a:defRPr>
            </a:pPr>
            <a:r>
              <a:t>包管理器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645920" y="5852160"/>
            <a:ext cx="1554480" cy="320040"/>
          </a:xfrm>
          <a:prstGeom prst="rect">
            <a:avLst/>
          </a:prstGeom>
          <a:solidFill>
            <a:srgbClr val="EEF2FF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A1A2E"/>
                </a:solidFill>
                <a:latin typeface="Microsoft YaHei"/>
              </a:defRPr>
            </a:pPr>
            <a:r>
              <a:t>npm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200400" y="5852160"/>
            <a:ext cx="164592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1A1A2E"/>
                </a:solidFill>
                <a:latin typeface="Microsoft YaHei"/>
              </a:defRPr>
            </a:pPr>
            <a:r>
              <a:t>Store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846320" y="5852160"/>
            <a:ext cx="164592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1A1A2E"/>
                </a:solidFill>
                <a:latin typeface="Microsoft YaHei"/>
              </a:defRPr>
            </a:pPr>
            <a:r>
              <a:t>npm/Store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492240" y="5852160"/>
            <a:ext cx="164592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1A1A2E"/>
                </a:solidFill>
                <a:latin typeface="Microsoft YaHei"/>
              </a:defRPr>
            </a:pPr>
            <a:r>
              <a:t>npm/Store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138160" y="5852160"/>
            <a:ext cx="1645920" cy="320040"/>
          </a:xfrm>
          <a:prstGeom prst="rect">
            <a:avLst/>
          </a:prstGeom>
          <a:solidFill>
            <a:srgbClr val="F5F6FA"/>
          </a:solidFill>
          <a:ln w="10160">
            <a:solidFill>
              <a:srgbClr val="E8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1A1A2E"/>
                </a:solidFill>
                <a:latin typeface="Microsoft YaHei"/>
              </a:defRPr>
            </a:pPr>
            <a:r>
              <a:t>npm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57200" y="5715000"/>
            <a:ext cx="11247120" cy="502920"/>
          </a:xfrm>
          <a:prstGeom prst="roundRect">
            <a:avLst>
              <a:gd name="adj" fmla="val 3000"/>
            </a:avLst>
          </a:prstGeom>
          <a:solidFill>
            <a:srgbClr val="E8ECFE"/>
          </a:solidFill>
          <a:ln w="10160">
            <a:solidFill>
              <a:srgbClr val="4F6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40080" y="57607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F6EF7"/>
                </a:solidFill>
                <a:latin typeface="Microsoft YaHei"/>
              </a:defRPr>
            </a:pPr>
            <a:r>
              <a:t>核心差异：ds_todo 是唯一「开源 + 离线优先 + 桌面原生 + 零配置」的待办管理工具，在数据隐私和安装便利性上具有独特优势。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E"/>
                </a:solidFill>
                <a:latin typeface="Microsoft YaHei"/>
              </a:defRPr>
            </a:pPr>
            <a: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Microsoft YaHei"/>
              </a:defRPr>
            </a:pPr>
            <a:r>
              <a:t>优缺点深度分析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E"/>
                </a:solidFill>
                <a:latin typeface="Microsoft YaHei"/>
              </a:defRPr>
            </a:pPr>
            <a:r>
              <a:t>客观评估项目的优势和待改进之处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CC71"/>
                </a:solidFill>
                <a:latin typeface="Microsoft YaHei"/>
              </a:defRPr>
            </a:pPr>
            <a:r>
              <a:t>✅  优势 (Strengths)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20240"/>
            <a:ext cx="5394960" cy="685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Microsoft YaHei"/>
              </a:defRPr>
            </a:pPr>
            <a:r>
              <a:t>隐私安全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纯本地存储，无网络请求，无数据上传。用户数据完全由自己掌控，适合企业内部和隐私敏感场景。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70048"/>
            <a:ext cx="5394960" cy="685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5292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Microsoft YaHei"/>
              </a:defRPr>
            </a:pPr>
            <a:r>
              <a:t>开箱即用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72968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单文件 portable exe，双击启动，无需安装 Node.js / npm / 浏览器。131 MB 包含完整运行时。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19856"/>
            <a:ext cx="5394960" cy="685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60273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Microsoft YaHei"/>
              </a:defRPr>
            </a:pPr>
            <a:r>
              <a:t>技术现代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92277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Next.js 16 + React 19 + TypeScript 5 + Tailwind v4 均为最新版本。代码结构清晰，适合学习和二次开发。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69664"/>
            <a:ext cx="5394960" cy="685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35254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Microsoft YaHei"/>
              </a:defRPr>
            </a:pPr>
            <a:r>
              <a:t>动画精致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72584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10 种微交互动画，framer-motion 驱动的列表动画流畅自然。暗色模式零闪烁切换。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919472"/>
            <a:ext cx="5394960" cy="685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10235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Microsoft YaHei"/>
              </a:defRPr>
            </a:pPr>
            <a:r>
              <a:t>功能完备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422392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20+ 功能特性，覆盖优先级、日期、子任务、备注、置顶、搜索、排序、导入导出等全场景。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669279"/>
            <a:ext cx="5394960" cy="685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85215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Microsoft YaHei"/>
              </a:defRPr>
            </a:pPr>
            <a:r>
              <a:t>体积可控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172199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131 MB 打包体积在 Electron 应用中属优秀水平（微软 To Do ~200 MB，Todoist ~250 MB）。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39C12"/>
                </a:solidFill>
                <a:latin typeface="Microsoft YaHei"/>
              </a:defRPr>
            </a:pPr>
            <a:r>
              <a:t>⚠️  不足与改进方向 (Weaknesses)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920240"/>
            <a:ext cx="5394960" cy="685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2103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Microsoft YaHei"/>
              </a:defRPr>
            </a:pPr>
            <a:r>
              <a:t>无云端同步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23160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当前仅支持 localStorage 本地存储 + JSON 手动导入导出。多设备间无法自动同步任务数据。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2670048"/>
            <a:ext cx="5394960" cy="685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285292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Microsoft YaHei"/>
              </a:defRPr>
            </a:pPr>
            <a:r>
              <a:t>单用户单机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3172968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不支持多用户协作、任务指派、团队看板等功能。定位为个人工具，不适合团队场景。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419856"/>
            <a:ext cx="5394960" cy="685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360273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Microsoft YaHei"/>
              </a:defRPr>
            </a:pPr>
            <a:r>
              <a:t>无移动端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92277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当前仅支持 Windows 桌面。无 macOS / Linux 正式测试，无 iOS / Android 移动版本。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169664"/>
            <a:ext cx="5394960" cy="685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435254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Microsoft YaHei"/>
              </a:defRPr>
            </a:pPr>
            <a:r>
              <a:t>缺少通知提醒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672584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未集成系统通知 (Notification API)，截止日期临近时无法主动提醒用户。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4919472"/>
            <a:ext cx="5394960" cy="685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510235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Microsoft YaHei"/>
              </a:defRPr>
            </a:pPr>
            <a:r>
              <a:t>Electron 固有开销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422392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131 MB 虽然优于竞品，但相比 Native 应用 (如 Snipaste ~10 MB) 体积偏大。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5669279"/>
            <a:ext cx="5394960" cy="685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0" y="585215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Microsoft YaHei"/>
              </a:defRPr>
            </a:pPr>
            <a:r>
              <a:t>无自动化测试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6172199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当前项目未包含单元测试、E2E 测试、CI/CD 流水线，代码质量和回归依赖于人工验证。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E"/>
                </a:solidFill>
                <a:latin typeface="Microsoft YaHei"/>
              </a:defRPr>
            </a:pPr>
            <a: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核心竞争力总结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E"/>
                </a:solidFill>
                <a:latin typeface="Microsoft YaHei"/>
              </a:defRPr>
            </a:pPr>
            <a:r>
              <a:t>为什么 ds_todo 值得关注？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11247120" cy="109728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 w="10160">
            <a:solidFill>
              <a:srgbClr val="4F6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828800"/>
            <a:ext cx="365760" cy="365760"/>
          </a:xfrm>
          <a:prstGeom prst="ellipse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105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5361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🔐 数据主权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8745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在 GDPR 合规日益严格的背景下，纯本地存储方案提供了云端工具无法比拟的隐私保障。用户数据从不离开设备，即使应用卸载，数据仍保留在浏览器 localStorage 或导出 JSON 中。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11247120" cy="109728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 w="10160">
            <a:solidFill>
              <a:srgbClr val="4F6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3063240"/>
            <a:ext cx="365760" cy="365760"/>
          </a:xfrm>
          <a:prstGeom prst="ellipse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04495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7706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⚡ 零摩擦上手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10896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下载 → 双击 → 使用。三秒内开始管理任务。不需要注册账号、不需要网络连接、不需要任何配置。这是所有竞品都无法做到的体验。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31920"/>
            <a:ext cx="11247120" cy="109728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 w="10160">
            <a:solidFill>
              <a:srgbClr val="4F6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4297680"/>
            <a:ext cx="365760" cy="365760"/>
          </a:xfrm>
          <a:prstGeom prst="ellipse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27939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0050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🎨 像素级精致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3434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10 种动画效果、CSS 变量主题、framer-motion 声明式动画——这些通常是商业产品才有的设计投入。ds_todo 在开源项目中做到了「设计不妥协」。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166360"/>
            <a:ext cx="11247120" cy="109728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 w="10160">
            <a:solidFill>
              <a:srgbClr val="4F6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51383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23951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📚 教学友好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55778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代码架构清晰、注释克制、依赖极简（仅 framer-motion 一个运行时依赖）。19 个源文件覆盖 React/TypeScript/Tailwind/Electron 技术栈，是优秀的学习参考项目。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C8C9E"/>
                </a:solidFill>
                <a:latin typeface="Microsoft YaHei"/>
              </a:defRPr>
            </a:pPr>
            <a:r>
              <a:t>综合评分参考：功能完整度 ★★★★☆  |  代码质量 ★★★★★  |  用户体验 ★★★★☆  |  创新性 ★★★★☆  |  实用性 ★★★★★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E"/>
                </a:solidFill>
                <a:latin typeface="Microsoft YaHei"/>
              </a:defRPr>
            </a:pPr>
            <a: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Microsoft YaHei"/>
              </a:defRPr>
            </a:pPr>
            <a:r>
              <a:t>开发历程与方法论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E"/>
                </a:solidFill>
                <a:latin typeface="Microsoft YaHei"/>
              </a:defRPr>
            </a:pPr>
            <a:r>
              <a:t>从零到一构建全功能待办应用的完整过程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2194560" cy="822960"/>
          </a:xfrm>
          <a:prstGeom prst="roundRect">
            <a:avLst>
              <a:gd name="adj" fmla="val 8000"/>
            </a:avLst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onsolas"/>
              </a:defRPr>
            </a:pPr>
            <a: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60020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原型验证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874519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DDDDFF"/>
                </a:solidFill>
                <a:latin typeface="Microsoft YaHei"/>
              </a:defRPr>
            </a:pPr>
            <a:r>
              <a:t>单文件 HTML+CSS+JS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01168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耗时: 1 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2377440"/>
            <a:ext cx="2194560" cy="1645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468880"/>
            <a:ext cx="1920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快速验证核心交互：添加、删除、勾选</a:t>
            </a:r>
          </a:p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localStorage 持久化</a:t>
            </a:r>
          </a:p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确认产品方向可行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7168" y="26517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C8C9E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51760" y="1371600"/>
            <a:ext cx="2194560" cy="822960"/>
          </a:xfrm>
          <a:prstGeom prst="roundRect">
            <a:avLst>
              <a:gd name="adj" fmla="val 8000"/>
            </a:avLst>
          </a:prstGeom>
          <a:solidFill>
            <a:srgbClr val="6C8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8920" y="14173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onsolas"/>
              </a:defRPr>
            </a:pPr>
            <a:r>
              <a:t>Phase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160020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功能完善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1874519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DDDDFF"/>
                </a:solidFill>
                <a:latin typeface="Microsoft YaHei"/>
              </a:defRPr>
            </a:pPr>
            <a:r>
              <a:t>优先级 + 日期 + 搜索 + 拖拽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01168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耗时: 1 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51760" y="2377440"/>
            <a:ext cx="2194560" cy="1645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88920" y="2468880"/>
            <a:ext cx="1920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三级优先级 + 彩色标识</a:t>
            </a:r>
          </a:p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日期选择器 + 相对日期显示</a:t>
            </a:r>
          </a:p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搜索筛选 + 排序 + 拖拽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26517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C8C9E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0" y="1371600"/>
            <a:ext cx="2194560" cy="822960"/>
          </a:xfrm>
          <a:prstGeom prst="roundRect">
            <a:avLst>
              <a:gd name="adj" fmla="val 8000"/>
            </a:avLst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66360" y="14173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onsolas"/>
              </a:defRPr>
            </a:pPr>
            <a:r>
              <a:t>Phase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160020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体验升级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6360" y="1874519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DDDDFF"/>
                </a:solidFill>
                <a:latin typeface="Microsoft YaHei"/>
              </a:defRPr>
            </a:pPr>
            <a:r>
              <a:t>动画 + 暗色模式 + 撤销 + 子任务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66360" y="201168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耗时: 1 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0" y="2377440"/>
            <a:ext cx="2194560" cy="1645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66360" y="2468880"/>
            <a:ext cx="1920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10 种动画微交互</a:t>
            </a:r>
          </a:p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CSS 变量双层主题</a:t>
            </a:r>
          </a:p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子任务 + 备注 + 置顶 + 导入导出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26517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C8C9E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06640" y="1371600"/>
            <a:ext cx="2194560" cy="822960"/>
          </a:xfrm>
          <a:prstGeom prst="roundRect">
            <a:avLst>
              <a:gd name="adj" fmla="val 8000"/>
            </a:avLst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43800" y="14173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onsolas"/>
              </a:defRPr>
            </a:pPr>
            <a:r>
              <a:t>Phase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160020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技术重构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1874519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DDDDFF"/>
                </a:solidFill>
                <a:latin typeface="Microsoft YaHei"/>
              </a:defRPr>
            </a:pPr>
            <a:r>
              <a:t>Next.js + TS + Tailwind + Electron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43800" y="201168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耗时: 1 天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06640" y="2377440"/>
            <a:ext cx="2194560" cy="1645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43800" y="2468880"/>
            <a:ext cx="1920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单文件 HTML → Next.js 组件化</a:t>
            </a:r>
          </a:p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JavaScript → TypeScript strict</a:t>
            </a:r>
          </a:p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命令式 CSS → Tailwind 原子化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19488" y="26517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C8C9E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784080" y="1371600"/>
            <a:ext cx="2194560" cy="822960"/>
          </a:xfrm>
          <a:prstGeom prst="roundRect">
            <a:avLst>
              <a:gd name="adj" fmla="val 8000"/>
            </a:avLst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21240" y="14173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onsolas"/>
              </a:defRPr>
            </a:pPr>
            <a:r>
              <a:t>Phase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160020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交付与展示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21240" y="1874519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DDDDFF"/>
                </a:solidFill>
                <a:latin typeface="Microsoft YaHei"/>
              </a:defRPr>
            </a:pPr>
            <a:r>
              <a:t>PPT + README + GitHub + 桌面打包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21240" y="201168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耗时: 1 天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784080" y="2377440"/>
            <a:ext cx="2194560" cy="1645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921240" y="2468880"/>
            <a:ext cx="1920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竞赛 PPT 制作</a:t>
            </a:r>
          </a:p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README 技术文档</a:t>
            </a:r>
          </a:p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Electron 打包 + 一键启动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E"/>
                </a:solidFill>
                <a:latin typeface="Microsoft YaHei"/>
              </a:defRPr>
            </a:pPr>
            <a: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Microsoft YaHei"/>
              </a:defRPr>
            </a:pPr>
            <a:r>
              <a:t>性能与技术指标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E"/>
                </a:solidFill>
                <a:latin typeface="Microsoft YaHei"/>
              </a:defRPr>
            </a:pPr>
            <a:r>
              <a:t>代码质量、运行时性能、构建产物分析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394960" cy="82296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016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26464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Microsoft YaHei"/>
              </a:defRPr>
            </a:pPr>
            <a:r>
              <a:t>TypeScript 类型覆盖率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42646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Microsoft YaHei"/>
              </a:defRPr>
            </a:pPr>
            <a: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strict 模式，0 个类型错误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394960" cy="82296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0160">
            <a:solidFill>
              <a:srgbClr val="4F6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26464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Microsoft YaHei"/>
              </a:defRPr>
            </a:pPr>
            <a:r>
              <a:t>React 组件数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142646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F6EF7"/>
                </a:solidFill>
                <a:latin typeface="Microsoft YaHei"/>
              </a:defRPr>
            </a:pPr>
            <a:r>
              <a:t>9 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691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全部使用函数组件 + Hooks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331720"/>
            <a:ext cx="5394960" cy="82296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016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86584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Microsoft YaHei"/>
              </a:defRPr>
            </a:pPr>
            <a:r>
              <a:t>运行时依赖数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38658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Microsoft YaHei"/>
              </a:defRPr>
            </a:pPr>
            <a:r>
              <a:t>2 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651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react + framer-motion（Next.js 构建时）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2331720"/>
            <a:ext cx="5394960" cy="82296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016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386584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Microsoft YaHei"/>
              </a:defRPr>
            </a:pPr>
            <a:r>
              <a:t>首屏渲染时间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238658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Microsoft YaHei"/>
              </a:defRPr>
            </a:pPr>
            <a:r>
              <a:t>&lt; 100ms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651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Static Export，浏览器直接解析 HTML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291840"/>
            <a:ext cx="5394960" cy="82296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016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46704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Microsoft YaHei"/>
              </a:defRPr>
            </a:pPr>
            <a:r>
              <a:t>主题切换延迟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34670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Microsoft YaHei"/>
              </a:defRPr>
            </a:pPr>
            <a:r>
              <a:t>&lt; 16ms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611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单帧内完成 CSS 变量切换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3291840"/>
            <a:ext cx="5394960" cy="82296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016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346704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Microsoft YaHei"/>
              </a:defRPr>
            </a:pPr>
            <a:r>
              <a:t>localStorage 读写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334670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Microsoft YaHei"/>
              </a:defRPr>
            </a:pPr>
            <a:r>
              <a:t>&lt; 1ms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611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同步操作，数据量 &lt; 100KB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5394960" cy="82296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016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306824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Microsoft YaHei"/>
              </a:defRPr>
            </a:pPr>
            <a:r>
              <a:t>应用冷启动时间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430682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Microsoft YaHei"/>
              </a:defRPr>
            </a:pPr>
            <a:r>
              <a:t>&lt; 2s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572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Electron + Chromium 启动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4251960"/>
            <a:ext cx="5394960" cy="82296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016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4306824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Microsoft YaHei"/>
              </a:defRPr>
            </a:pPr>
            <a:r>
              <a:t>内存占用（空闲）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430682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Microsoft YaHei"/>
              </a:defRPr>
            </a:pPr>
            <a:r>
              <a:t>~120 MB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572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Chromium 渲染器开销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5212080"/>
            <a:ext cx="5394960" cy="82296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016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266944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Microsoft YaHei"/>
              </a:defRPr>
            </a:pPr>
            <a:r>
              <a:t>打包体积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526694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Microsoft YaHei"/>
              </a:defRPr>
            </a:pPr>
            <a:r>
              <a:t>131 MB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532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含 Electron 42 + Chromium + Node.js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5212080"/>
            <a:ext cx="5394960" cy="82296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0160">
            <a:solidFill>
              <a:srgbClr val="4F6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5266944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Microsoft YaHei"/>
              </a:defRPr>
            </a:pPr>
            <a:r>
              <a:t>Gzip 后体积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18320" y="526694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F6EF7"/>
                </a:solidFill>
                <a:latin typeface="Microsoft YaHei"/>
              </a:defRPr>
            </a:pPr>
            <a:r>
              <a:t>~42 MB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5532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8C8C9E"/>
                </a:solidFill>
                <a:latin typeface="Microsoft YaHei"/>
              </a:defRPr>
            </a:pPr>
            <a:r>
              <a:t>NSIS 7z 压缩效果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E"/>
                </a:solidFill>
                <a:latin typeface="Microsoft YaHei"/>
              </a:defRPr>
            </a:pPr>
            <a: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未来规划与演进路线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E"/>
                </a:solidFill>
                <a:latin typeface="Microsoft YaHei"/>
              </a:defRPr>
            </a:pPr>
            <a:r>
              <a:t>短期优化 → 中期扩展 → 长期愿景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566160" cy="548640"/>
          </a:xfrm>
          <a:prstGeom prst="roundRect">
            <a:avLst>
              <a:gd name="adj" fmla="val 6000"/>
            </a:avLst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3560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🚀 短期（1-3 月）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2148840"/>
            <a:ext cx="164592" cy="164592"/>
          </a:xfrm>
          <a:prstGeom prst="ellipse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1100">
                <a:solidFill>
                  <a:srgbClr val="FFFFFF"/>
                </a:solidFill>
                <a:latin typeface="Microsoft YaHei"/>
              </a:defRPr>
            </a:pPr>
            <a:r>
              <a:t>增加系统通知提醒 (Notification API)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2743199"/>
            <a:ext cx="164592" cy="164592"/>
          </a:xfrm>
          <a:prstGeom prst="ellipse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97479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1100">
                <a:solidFill>
                  <a:srgbClr val="FFFFFF"/>
                </a:solidFill>
                <a:latin typeface="Microsoft YaHei"/>
              </a:defRPr>
            </a:pPr>
            <a:r>
              <a:t>支持 Markdown 格式任务描述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" y="3337559"/>
            <a:ext cx="164592" cy="164592"/>
          </a:xfrm>
          <a:prstGeom prst="ellipse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91839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1100">
                <a:solidFill>
                  <a:srgbClr val="FFFFFF"/>
                </a:solidFill>
                <a:latin typeface="Microsoft YaHei"/>
              </a:defRPr>
            </a:pPr>
            <a:r>
              <a:t>添加标签/分类系统 (Tag/Category)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931920"/>
            <a:ext cx="164592" cy="164592"/>
          </a:xfrm>
          <a:prstGeom prst="ellipse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8862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1100">
                <a:solidFill>
                  <a:srgbClr val="FFFFFF"/>
                </a:solidFill>
                <a:latin typeface="Microsoft YaHei"/>
              </a:defRPr>
            </a:pPr>
            <a:r>
              <a:t>键盘快捷键自定义配置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4526280"/>
            <a:ext cx="164592" cy="164592"/>
          </a:xfrm>
          <a:prstGeom prst="ellipse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805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1100">
                <a:solidFill>
                  <a:srgbClr val="FFFFFF"/>
                </a:solidFill>
                <a:latin typeface="Microsoft YaHei"/>
              </a:defRPr>
            </a:pPr>
            <a:r>
              <a:t>数据看板：完成率趋势图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371600"/>
            <a:ext cx="3566160" cy="548640"/>
          </a:xfrm>
          <a:prstGeom prst="roundRect">
            <a:avLst>
              <a:gd name="adj" fmla="val 6000"/>
            </a:avLst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143560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🌐 中期（3-6 月）</a:t>
            </a:r>
          </a:p>
        </p:txBody>
      </p:sp>
      <p:sp>
        <p:nvSpPr>
          <p:cNvPr id="19" name="Oval 18"/>
          <p:cNvSpPr/>
          <p:nvPr/>
        </p:nvSpPr>
        <p:spPr>
          <a:xfrm>
            <a:off x="4434840" y="2148840"/>
            <a:ext cx="164592" cy="164592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9160" y="21031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1100">
                <a:solidFill>
                  <a:srgbClr val="FFFFFF"/>
                </a:solidFill>
                <a:latin typeface="Microsoft YaHei"/>
              </a:defRPr>
            </a:pPr>
            <a:r>
              <a:t>WebDAV/远程同步支持</a:t>
            </a:r>
          </a:p>
        </p:txBody>
      </p:sp>
      <p:sp>
        <p:nvSpPr>
          <p:cNvPr id="21" name="Oval 20"/>
          <p:cNvSpPr/>
          <p:nvPr/>
        </p:nvSpPr>
        <p:spPr>
          <a:xfrm>
            <a:off x="4434840" y="2743199"/>
            <a:ext cx="164592" cy="164592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2697479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1100">
                <a:solidFill>
                  <a:srgbClr val="FFFFFF"/>
                </a:solidFill>
                <a:latin typeface="Microsoft YaHei"/>
              </a:defRPr>
            </a:pPr>
            <a:r>
              <a:t>macOS &amp; Linux 跨平台适配</a:t>
            </a:r>
          </a:p>
        </p:txBody>
      </p:sp>
      <p:sp>
        <p:nvSpPr>
          <p:cNvPr id="23" name="Oval 22"/>
          <p:cNvSpPr/>
          <p:nvPr/>
        </p:nvSpPr>
        <p:spPr>
          <a:xfrm>
            <a:off x="4434840" y="3337559"/>
            <a:ext cx="164592" cy="164592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9160" y="3291839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1100">
                <a:solidFill>
                  <a:srgbClr val="FFFFFF"/>
                </a:solidFill>
                <a:latin typeface="Microsoft YaHei"/>
              </a:defRPr>
            </a:pPr>
            <a:r>
              <a:t>PWA 版本（手机端可用）</a:t>
            </a:r>
          </a:p>
        </p:txBody>
      </p:sp>
      <p:sp>
        <p:nvSpPr>
          <p:cNvPr id="25" name="Oval 24"/>
          <p:cNvSpPr/>
          <p:nvPr/>
        </p:nvSpPr>
        <p:spPr>
          <a:xfrm>
            <a:off x="4434840" y="3931920"/>
            <a:ext cx="164592" cy="164592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09160" y="38862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1100">
                <a:solidFill>
                  <a:srgbClr val="FFFFFF"/>
                </a:solidFill>
                <a:latin typeface="Microsoft YaHei"/>
              </a:defRPr>
            </a:pPr>
            <a:r>
              <a:t>多语言国际化 (i18n)</a:t>
            </a:r>
          </a:p>
        </p:txBody>
      </p:sp>
      <p:sp>
        <p:nvSpPr>
          <p:cNvPr id="27" name="Oval 26"/>
          <p:cNvSpPr/>
          <p:nvPr/>
        </p:nvSpPr>
        <p:spPr>
          <a:xfrm>
            <a:off x="4434840" y="4526280"/>
            <a:ext cx="164592" cy="164592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4805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1100">
                <a:solidFill>
                  <a:srgbClr val="FFFFFF"/>
                </a:solidFill>
                <a:latin typeface="Microsoft YaHei"/>
              </a:defRPr>
            </a:pPr>
            <a:r>
              <a:t>插件系统架构设计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60" y="1371600"/>
            <a:ext cx="3566160" cy="548640"/>
          </a:xfrm>
          <a:prstGeom prst="roundRect">
            <a:avLst>
              <a:gd name="adj" fmla="val 6000"/>
            </a:avLst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143560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🌟 长期（6-12 月）</a:t>
            </a:r>
          </a:p>
        </p:txBody>
      </p:sp>
      <p:sp>
        <p:nvSpPr>
          <p:cNvPr id="31" name="Oval 30"/>
          <p:cNvSpPr/>
          <p:nvPr/>
        </p:nvSpPr>
        <p:spPr>
          <a:xfrm>
            <a:off x="8275320" y="2148840"/>
            <a:ext cx="164592" cy="164592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9640" y="21031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1100">
                <a:solidFill>
                  <a:srgbClr val="FFFFFF"/>
                </a:solidFill>
                <a:latin typeface="Microsoft YaHei"/>
              </a:defRPr>
            </a:pPr>
            <a:r>
              <a:t>端到端加密云同步</a:t>
            </a:r>
          </a:p>
        </p:txBody>
      </p:sp>
      <p:sp>
        <p:nvSpPr>
          <p:cNvPr id="33" name="Oval 32"/>
          <p:cNvSpPr/>
          <p:nvPr/>
        </p:nvSpPr>
        <p:spPr>
          <a:xfrm>
            <a:off x="8275320" y="2743199"/>
            <a:ext cx="164592" cy="164592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49640" y="2697479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1100">
                <a:solidFill>
                  <a:srgbClr val="FFFFFF"/>
                </a:solidFill>
                <a:latin typeface="Microsoft YaHei"/>
              </a:defRPr>
            </a:pPr>
            <a:r>
              <a:t>AI 智能任务拆解 (LLM)</a:t>
            </a:r>
          </a:p>
        </p:txBody>
      </p:sp>
      <p:sp>
        <p:nvSpPr>
          <p:cNvPr id="35" name="Oval 34"/>
          <p:cNvSpPr/>
          <p:nvPr/>
        </p:nvSpPr>
        <p:spPr>
          <a:xfrm>
            <a:off x="8275320" y="3337559"/>
            <a:ext cx="164592" cy="164592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9640" y="3291839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1100">
                <a:solidFill>
                  <a:srgbClr val="FFFFFF"/>
                </a:solidFill>
                <a:latin typeface="Microsoft YaHei"/>
              </a:defRPr>
            </a:pPr>
            <a:r>
              <a:t>团队协作与任务指派</a:t>
            </a:r>
          </a:p>
        </p:txBody>
      </p:sp>
      <p:sp>
        <p:nvSpPr>
          <p:cNvPr id="37" name="Oval 36"/>
          <p:cNvSpPr/>
          <p:nvPr/>
        </p:nvSpPr>
        <p:spPr>
          <a:xfrm>
            <a:off x="8275320" y="3931920"/>
            <a:ext cx="164592" cy="164592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49640" y="38862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1100">
                <a:solidFill>
                  <a:srgbClr val="FFFFFF"/>
                </a:solidFill>
                <a:latin typeface="Microsoft YaHei"/>
              </a:defRPr>
            </a:pPr>
            <a:r>
              <a:t>移动端原生 App (React Native)</a:t>
            </a:r>
          </a:p>
        </p:txBody>
      </p:sp>
      <p:sp>
        <p:nvSpPr>
          <p:cNvPr id="39" name="Oval 38"/>
          <p:cNvSpPr/>
          <p:nvPr/>
        </p:nvSpPr>
        <p:spPr>
          <a:xfrm>
            <a:off x="8275320" y="4526280"/>
            <a:ext cx="164592" cy="164592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9640" y="44805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1100">
                <a:solidFill>
                  <a:srgbClr val="FFFFFF"/>
                </a:solidFill>
                <a:latin typeface="Microsoft YaHei"/>
              </a:defRPr>
            </a:pPr>
            <a:r>
              <a:t>Calendar 视图 &amp; 甘特图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5394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里程碑时间线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5760720"/>
            <a:ext cx="2560320" cy="457200"/>
          </a:xfrm>
          <a:prstGeom prst="roundRect">
            <a:avLst>
              <a:gd name="adj" fmla="val 20000"/>
            </a:avLst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779008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v1.0  |  2025.05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" y="598932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全功能发布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611880" y="5760720"/>
            <a:ext cx="2560320" cy="457200"/>
          </a:xfrm>
          <a:prstGeom prst="roundRect">
            <a:avLst>
              <a:gd name="adj" fmla="val 20000"/>
            </a:avLst>
          </a:prstGeom>
          <a:solidFill>
            <a:srgbClr val="6C8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49040" y="5779008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v1.5  |  2025.07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49040" y="598932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通知 + 标签 + 看板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92240" y="5760720"/>
            <a:ext cx="2560320" cy="457200"/>
          </a:xfrm>
          <a:prstGeom prst="roundRect">
            <a:avLst>
              <a:gd name="adj" fmla="val 20000"/>
            </a:avLst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29400" y="5779008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v2.0  |  2025.10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598932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云同步 + 跨平台 + PWA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372600" y="5760720"/>
            <a:ext cx="2560320" cy="457200"/>
          </a:xfrm>
          <a:prstGeom prst="roundRect">
            <a:avLst>
              <a:gd name="adj" fmla="val 20000"/>
            </a:avLst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09760" y="5779008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v3.0  |  2026.04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509760" y="598932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AI + 团队协作 + 移动端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E"/>
                </a:solidFill>
                <a:latin typeface="Microsoft YaHei"/>
              </a:defRPr>
            </a:pPr>
            <a: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Microsoft YaHei"/>
              </a:defRPr>
            </a:pPr>
            <a:r>
              <a:t>安全与隐私设计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E"/>
                </a:solidFill>
                <a:latin typeface="Microsoft YaHei"/>
              </a:defRPr>
            </a:pPr>
            <a:r>
              <a:t>数据安全是 ds_todo 的核心设计原则之一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47120" cy="86868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016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645920"/>
            <a:ext cx="320040" cy="32004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41732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icrosoft YaHei"/>
              </a:defRPr>
            </a:pPr>
            <a:r>
              <a:t>🔒 完全离线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190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应用启动后不发起任何网络请求（除 Electron 下载外）。所有数据存储在用户设备的 localStorage 中，第三方无法访问。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77440"/>
            <a:ext cx="11247120" cy="86868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0160">
            <a:solidFill>
              <a:srgbClr val="4F6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2651760"/>
            <a:ext cx="320040" cy="320040"/>
          </a:xfrm>
          <a:prstGeom prst="ellipse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63347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42316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icrosoft YaHei"/>
              </a:defRPr>
            </a:pPr>
            <a:r>
              <a:t>📁 数据可导出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72491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支持一键导出 JSON 格式备份文件。用户数据不绑定应用，可随时迁移到其他工具或恢复。JSON 格式可被任何文本编辑器打开验证。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83280"/>
            <a:ext cx="11247120" cy="86868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016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657600"/>
            <a:ext cx="320040" cy="32004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393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4290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icrosoft YaHei"/>
              </a:defRPr>
            </a:pPr>
            <a:r>
              <a:t>🚫 零数据收集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73075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无埋点、无分析 SDK、无遥测、无广告。代码完全开源 (MIT)，任何人都可以审计是否存在隐私风险。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389120"/>
            <a:ext cx="11247120" cy="86868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0160">
            <a:solidFill>
              <a:srgbClr val="4F6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4663440"/>
            <a:ext cx="320040" cy="320040"/>
          </a:xfrm>
          <a:prstGeom prst="ellipse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64515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43484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icrosoft YaHei"/>
              </a:defRPr>
            </a:pPr>
            <a:r>
              <a:t>🛡️ Electron 安全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73659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contextIsolation: true — 渲染进程无法直接访问 Node.js API。nodeIntegration: false — 阻断 XSS 攻击路径。preload.js 仅暴露安全 API。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394960"/>
            <a:ext cx="11247120" cy="868680"/>
          </a:xfrm>
          <a:prstGeom prst="roundRect">
            <a:avLst>
              <a:gd name="adj" fmla="val 4000"/>
            </a:avLst>
          </a:prstGeom>
          <a:solidFill>
            <a:srgbClr val="F5F6FA"/>
          </a:solidFill>
          <a:ln w="1016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0080" y="5669280"/>
            <a:ext cx="320040" cy="32004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5099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544068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icrosoft YaHei"/>
              </a:defRPr>
            </a:pPr>
            <a:r>
              <a:t>🗑️ 数据可控删除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574243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1100">
                <a:solidFill>
                  <a:srgbClr val="8C8C9E"/>
                </a:solidFill>
                <a:latin typeface="Microsoft YaHei"/>
              </a:defRPr>
            </a:pPr>
            <a:r>
              <a:t>删除操作支持 4 秒撤销窗口。确认删除后数据从 localStorage 永久移除，不留痕迹。清除已完成可一键批量清理。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E"/>
                </a:solidFill>
                <a:latin typeface="Microsoft YaHei"/>
              </a:defRPr>
            </a:pPr>
            <a: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目标市场与用户画像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E"/>
                </a:solidFill>
                <a:latin typeface="Microsoft YaHei"/>
              </a:defRPr>
            </a:pPr>
            <a:r>
              <a:t>面向什么样的用户群体？市场规模如何？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5486400" cy="219456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6EF7"/>
                </a:solidFill>
                <a:latin typeface="Microsoft YaHei"/>
              </a:defRPr>
            </a:pPr>
            <a:r>
              <a:t>👨‍💻 软件开发者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51206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痛点: 跟踪 Bug / Feature / Code Review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场景: 日常开发任务 + 学习计划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需求: 离线、快捷键、JSON 导入导出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契合度: ★★★★★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486400" cy="219456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C83F7"/>
                </a:solidFill>
                <a:latin typeface="Microsoft YaHei"/>
              </a:defRPr>
            </a:pPr>
            <a:r>
              <a:t>👩‍🎓 学生群体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51206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痛点: 作业 Deadline / 考试日程 / 项目进度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场景: 学期课程 + 社团活动管理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需求: 日期提醒、子任务拆解、免费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契合度: ★★★★★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931920"/>
            <a:ext cx="5486400" cy="219456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1148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CC71"/>
                </a:solidFill>
                <a:latin typeface="Microsoft YaHei"/>
              </a:defRPr>
            </a:pPr>
            <a:r>
              <a:t>🏠 自由职业者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51206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痛点: 多项目并行 / 客户交付物追踪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场景: 同时管理 3-5 个项目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需求: 置顶、备注、导出备份、隐私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契合度: ★★★★☆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931920"/>
            <a:ext cx="5486400" cy="219456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 w="10160">
            <a:solidFill>
              <a:srgbClr val="E8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1148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39C12"/>
                </a:solidFill>
                <a:latin typeface="Microsoft YaHei"/>
              </a:defRPr>
            </a:pPr>
            <a:r>
              <a:t>🏢 小型团队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434840"/>
            <a:ext cx="51206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痛点: 轻量任务追踪 / 无需 Jira 的复杂度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场景: 5-10 人团队日常协作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需求: 看板、指派、同步（后续版本）</a:t>
            </a:r>
          </a:p>
          <a:p>
            <a:pPr>
              <a:spcAft>
                <a:spcPts val="600"/>
              </a:spcAft>
              <a:defRPr sz="1200">
                <a:solidFill>
                  <a:srgbClr val="8C8C9E"/>
                </a:solidFill>
                <a:latin typeface="Microsoft YaHei"/>
              </a:defRPr>
            </a:pPr>
            <a:r>
              <a:t>契合度: ★★★☆☆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E"/>
                </a:solidFill>
                <a:latin typeface="Microsoft YaHei"/>
              </a:defRPr>
            </a:pPr>
            <a: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快速开始 &amp; 演示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E"/>
                </a:solidFill>
                <a:latin typeface="Microsoft YaHei"/>
              </a:defRPr>
            </a:pPr>
            <a:r>
              <a:t>三步启动，即刻体验</a:t>
            </a:r>
          </a:p>
        </p:txBody>
      </p:sp>
      <p:sp>
        <p:nvSpPr>
          <p:cNvPr id="5" name="Oval 4"/>
          <p:cNvSpPr/>
          <p:nvPr/>
        </p:nvSpPr>
        <p:spPr>
          <a:xfrm>
            <a:off x="1463040" y="1645920"/>
            <a:ext cx="548640" cy="548640"/>
          </a:xfrm>
          <a:prstGeom prst="ellipse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17190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377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克隆仓库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92608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8C8C9E"/>
                </a:solidFill>
                <a:latin typeface="Microsoft YaHei"/>
              </a:defRPr>
            </a:pPr>
            <a:r>
              <a:t>git clone https://github.com/</a:t>
            </a:r>
          </a:p>
          <a:p>
            <a:pPr>
              <a:spcAft>
                <a:spcPts val="700"/>
              </a:spcAft>
              <a:defRPr sz="1400">
                <a:solidFill>
                  <a:srgbClr val="8C8C9E"/>
                </a:solidFill>
                <a:latin typeface="Microsoft YaHei"/>
              </a:defRPr>
            </a:pPr>
            <a:r>
              <a:t>jackaaron01/ds_todo.git</a:t>
            </a:r>
          </a:p>
        </p:txBody>
      </p:sp>
      <p:sp>
        <p:nvSpPr>
          <p:cNvPr id="9" name="Oval 8"/>
          <p:cNvSpPr/>
          <p:nvPr/>
        </p:nvSpPr>
        <p:spPr>
          <a:xfrm>
            <a:off x="5212079" y="1645920"/>
            <a:ext cx="548640" cy="54864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19" y="17190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2377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安装运行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292608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8C8C9E"/>
                </a:solidFill>
                <a:latin typeface="Microsoft YaHei"/>
              </a:defRPr>
            </a:pPr>
            <a:r>
              <a:t>npm install</a:t>
            </a:r>
          </a:p>
          <a:p>
            <a:pPr>
              <a:spcAft>
                <a:spcPts val="700"/>
              </a:spcAft>
              <a:defRPr sz="1400">
                <a:solidFill>
                  <a:srgbClr val="8C8C9E"/>
                </a:solidFill>
                <a:latin typeface="Microsoft YaHei"/>
              </a:defRPr>
            </a:pPr>
            <a:r>
              <a:t>npm run dev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0" y="1645920"/>
            <a:ext cx="548640" cy="548640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0" y="17190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377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桌面体验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92608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8C8C9E"/>
                </a:solidFill>
                <a:latin typeface="Microsoft YaHei"/>
              </a:defRPr>
            </a:pPr>
            <a:r>
              <a:t>直接下载 ds_todo_portable.exe</a:t>
            </a:r>
          </a:p>
          <a:p>
            <a:pPr>
              <a:spcAft>
                <a:spcPts val="700"/>
              </a:spcAft>
              <a:defRPr sz="1400">
                <a:solidFill>
                  <a:srgbClr val="8C8C9E"/>
                </a:solidFill>
                <a:latin typeface="Microsoft YaHei"/>
              </a:defRPr>
            </a:pPr>
            <a:r>
              <a:t>双击启动，无需任何依赖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0" y="4206240"/>
            <a:ext cx="8503920" cy="2011680"/>
          </a:xfrm>
          <a:prstGeom prst="roundRect">
            <a:avLst>
              <a:gd name="adj" fmla="val 3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0" y="4297680"/>
            <a:ext cx="795527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0"/>
              </a:spcAft>
              <a:defRPr sz="1100">
                <a:solidFill>
                  <a:srgbClr val="A8C8E8"/>
                </a:solidFill>
                <a:latin typeface="Consolas"/>
              </a:defRPr>
            </a:pPr>
            <a:r>
              <a:t>$ git clone https://github.com/jackaaron01/ds_todo.git</a:t>
            </a:r>
          </a:p>
          <a:p>
            <a:pPr>
              <a:spcAft>
                <a:spcPts val="550"/>
              </a:spcAft>
              <a:defRPr sz="1100">
                <a:solidFill>
                  <a:srgbClr val="A8C8E8"/>
                </a:solidFill>
                <a:latin typeface="Consolas"/>
              </a:defRPr>
            </a:pPr>
            <a:r>
              <a:t>$ cd ds_todo &amp;&amp; npm install</a:t>
            </a:r>
          </a:p>
          <a:p>
            <a:pPr>
              <a:spcAft>
                <a:spcPts val="550"/>
              </a:spcAft>
              <a:defRPr sz="1100">
                <a:solidFill>
                  <a:srgbClr val="A8C8E8"/>
                </a:solidFill>
                <a:latin typeface="Consolas"/>
              </a:defRPr>
            </a:pPr>
            <a:r>
              <a:t>$ npm run dev</a:t>
            </a:r>
          </a:p>
          <a:p>
            <a:pPr>
              <a:spcAft>
                <a:spcPts val="550"/>
              </a:spcAft>
              <a:defRPr sz="1100">
                <a:solidFill>
                  <a:srgbClr val="A8C8E8"/>
                </a:solidFill>
                <a:latin typeface="Consolas"/>
              </a:defRPr>
            </a:pPr>
            <a:r>
              <a:t>  ▲ Next.js 16.2.6 (Turbopack)</a:t>
            </a:r>
          </a:p>
          <a:p>
            <a:pPr>
              <a:spcAft>
                <a:spcPts val="550"/>
              </a:spcAft>
              <a:defRPr sz="1100">
                <a:solidFill>
                  <a:srgbClr val="A8C8E8"/>
                </a:solidFill>
                <a:latin typeface="Consolas"/>
              </a:defRPr>
            </a:pPr>
            <a:r>
              <a:t>  - Local:         http://localhost:3000</a:t>
            </a:r>
          </a:p>
          <a:p>
            <a:pPr>
              <a:spcAft>
                <a:spcPts val="550"/>
              </a:spcAft>
              <a:defRPr sz="1100">
                <a:solidFill>
                  <a:srgbClr val="A8C8E8"/>
                </a:solidFill>
                <a:latin typeface="Consolas"/>
              </a:defRPr>
            </a:pPr>
            <a:r>
              <a:t>  ✓ Ready in 3.8s</a:t>
            </a:r>
          </a:p>
          <a:p>
            <a:pPr>
              <a:spcAft>
                <a:spcPts val="550"/>
              </a:spcAft>
              <a:defRPr sz="1100">
                <a:solidFill>
                  <a:srgbClr val="A8C8E8"/>
                </a:solidFill>
                <a:latin typeface="Consolas"/>
              </a:defRPr>
            </a:pPr>
          </a:p>
          <a:p>
            <a:pPr>
              <a:spcAft>
                <a:spcPts val="550"/>
              </a:spcAft>
              <a:defRPr sz="1100">
                <a:solidFill>
                  <a:srgbClr val="A8C8E8"/>
                </a:solidFill>
                <a:latin typeface="Consolas"/>
              </a:defRPr>
            </a:pPr>
            <a:r>
              <a:t>$ npm run build:electron</a:t>
            </a:r>
          </a:p>
          <a:p>
            <a:pPr>
              <a:spcAft>
                <a:spcPts val="550"/>
              </a:spcAft>
              <a:defRPr sz="1100">
                <a:solidFill>
                  <a:srgbClr val="A8C8E8"/>
                </a:solidFill>
                <a:latin typeface="Consolas"/>
              </a:defRPr>
            </a:pPr>
            <a:r>
              <a:t>  • building target=portable file=release\ds_todo_portable.exe</a:t>
            </a:r>
          </a:p>
          <a:p>
            <a:pPr>
              <a:spcAft>
                <a:spcPts val="550"/>
              </a:spcAft>
              <a:defRPr sz="1100">
                <a:solidFill>
                  <a:srgbClr val="A8C8E8"/>
                </a:solidFill>
                <a:latin typeface="Consolas"/>
              </a:defRPr>
            </a:pPr>
            <a:r>
              <a:t>  ✓ ds_todo_portable.exe (131 MB) — 双击即用！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E"/>
                </a:solidFill>
                <a:latin typeface="Microsoft YaHei"/>
              </a:defRPr>
            </a:pPr>
            <a: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46304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800" b="1">
                <a:solidFill>
                  <a:srgbClr val="FFFFFF"/>
                </a:solidFill>
                <a:latin typeface="Microsoft YaHei"/>
              </a:defRPr>
            </a:pPr>
            <a:r>
              <a:t>感谢聆听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C8C9E"/>
                </a:solidFill>
                <a:latin typeface="Microsoft YaHei"/>
              </a:defRPr>
            </a:pPr>
            <a:r>
              <a:t>ds_todo — 开源 · 离线 · 桌面原生 · 功能完备的待办事项管理工具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389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F6EF7"/>
                </a:solidFill>
                <a:latin typeface="Microsoft YaHei"/>
              </a:defRPr>
            </a:pPr>
            <a:r>
              <a:t>GitHub: github.com/jackaaron01/ds_todo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5120640"/>
            <a:ext cx="1463040" cy="274320"/>
          </a:xfrm>
          <a:prstGeom prst="roundRect">
            <a:avLst>
              <a:gd name="adj" fmla="val 15000"/>
            </a:avLst>
          </a:prstGeom>
          <a:solidFill>
            <a:srgbClr val="E8EC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12700" bIns="12700"/>
          <a:lstStyle/>
          <a:p>
            <a:pPr algn="ctr">
              <a:defRPr sz="900" b="1">
                <a:solidFill>
                  <a:srgbClr val="3B54DB"/>
                </a:solidFill>
                <a:latin typeface="Microsoft YaHei"/>
              </a:defRPr>
            </a:pPr>
            <a:r>
              <a:t>Next.js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5120640"/>
            <a:ext cx="1188720" cy="274320"/>
          </a:xfrm>
          <a:prstGeom prst="roundRect">
            <a:avLst>
              <a:gd name="adj" fmla="val 15000"/>
            </a:avLst>
          </a:prstGeom>
          <a:solidFill>
            <a:srgbClr val="D4F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12700" bIns="12700"/>
          <a:lstStyle/>
          <a:p>
            <a:pPr algn="ctr">
              <a:defRPr sz="900" b="1">
                <a:solidFill>
                  <a:srgbClr val="1E8E5A"/>
                </a:solidFill>
                <a:latin typeface="Microsoft YaHei"/>
              </a:defRPr>
            </a:pPr>
            <a:r>
              <a:t>TypeScript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5120640"/>
            <a:ext cx="1280160" cy="274320"/>
          </a:xfrm>
          <a:prstGeom prst="roundRect">
            <a:avLst>
              <a:gd name="adj" fmla="val 15000"/>
            </a:avLst>
          </a:prstGeom>
          <a:solidFill>
            <a:srgbClr val="F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12700" bIns="12700"/>
          <a:lstStyle/>
          <a:p>
            <a:pPr algn="ctr">
              <a:defRPr sz="900" b="1">
                <a:solidFill>
                  <a:srgbClr val="C0392B"/>
                </a:solidFill>
                <a:latin typeface="Microsoft YaHei"/>
              </a:defRPr>
            </a:pPr>
            <a:r>
              <a:t>Tailwind CSS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0" y="5120640"/>
            <a:ext cx="1463040" cy="274320"/>
          </a:xfrm>
          <a:prstGeom prst="roundRect">
            <a:avLst>
              <a:gd name="adj" fmla="val 15000"/>
            </a:avLst>
          </a:prstGeom>
          <a:solidFill>
            <a:srgbClr val="D4F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12700" bIns="12700"/>
          <a:lstStyle/>
          <a:p>
            <a:pPr algn="ctr">
              <a:defRPr sz="900" b="1">
                <a:solidFill>
                  <a:srgbClr val="1E8E5A"/>
                </a:solidFill>
                <a:latin typeface="Microsoft YaHei"/>
              </a:defRPr>
            </a:pPr>
            <a:r>
              <a:t>framer-motion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0" y="5120640"/>
            <a:ext cx="1188720" cy="274320"/>
          </a:xfrm>
          <a:prstGeom prst="roundRect">
            <a:avLst>
              <a:gd name="adj" fmla="val 15000"/>
            </a:avLst>
          </a:prstGeom>
          <a:solidFill>
            <a:srgbClr val="E8EC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12700" bIns="12700"/>
          <a:lstStyle/>
          <a:p>
            <a:pPr algn="ctr">
              <a:defRPr sz="900" b="1">
                <a:solidFill>
                  <a:srgbClr val="3B54DB"/>
                </a:solidFill>
                <a:latin typeface="Microsoft YaHei"/>
              </a:defRPr>
            </a:pPr>
            <a:r>
              <a:t>Electron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C8C9E"/>
                </a:solidFill>
                <a:latin typeface="Microsoft YaHei"/>
              </a:defRPr>
            </a:pPr>
            <a:r>
              <a:t>2025  |  MIT License  |  Made with ❤️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E"/>
                </a:solidFill>
                <a:latin typeface="Microsoft YaHei"/>
              </a:defRPr>
            </a:pPr>
            <a: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