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  <a:latin typeface="Microsoft YaHei"/>
              </a:defRPr>
            </a:pPr>
            <a:r>
              <a:t>ds_todo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E"/>
                </a:solidFill>
                <a:latin typeface="Microsoft YaHei"/>
              </a:defRPr>
            </a:pPr>
            <a:r>
              <a:t>智能待办事项管理应用  |  软件开发创新大赛参赛作品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C83F7"/>
                </a:solidFill>
                <a:latin typeface="Microsoft YaHei"/>
              </a:defRPr>
            </a:pPr>
            <a:r>
              <a:t>基于 Next.js 16 + TypeScript + Tailwind CSS v4 + Electron 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75488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E8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3B54DB"/>
                </a:solidFill>
                <a:latin typeface="Microsoft YaHei"/>
              </a:defRPr>
            </a:pPr>
            <a:r>
              <a:t>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754880"/>
            <a:ext cx="1188720" cy="274320"/>
          </a:xfrm>
          <a:prstGeom prst="roundRect">
            <a:avLst>
              <a:gd name="adj" fmla="val 15000"/>
            </a:avLst>
          </a:prstGeom>
          <a:solidFill>
            <a:srgbClr val="D4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1E8E5A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754880"/>
            <a:ext cx="1097280" cy="274320"/>
          </a:xfrm>
          <a:prstGeom prst="roundRect">
            <a:avLst>
              <a:gd name="adj" fmla="val 15000"/>
            </a:avLst>
          </a:prstGeom>
          <a:solidFill>
            <a:srgbClr val="E8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3B54DB"/>
                </a:solidFill>
                <a:latin typeface="Microsoft YaHei"/>
              </a:defRPr>
            </a:pPr>
            <a:r>
              <a:t>Next.js 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4754880"/>
            <a:ext cx="1280160" cy="274320"/>
          </a:xfrm>
          <a:prstGeom prst="roundRect">
            <a:avLst>
              <a:gd name="adj" fmla="val 1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C0392B"/>
                </a:solidFill>
                <a:latin typeface="Microsoft YaHei"/>
              </a:defRPr>
            </a:pPr>
            <a:r>
              <a:t>Tailwind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475488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D4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1E8E5A"/>
                </a:solidFill>
                <a:latin typeface="Microsoft YaHei"/>
              </a:defRPr>
            </a:pPr>
            <a:r>
              <a:t>framer-motion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754880"/>
            <a:ext cx="1188720" cy="274320"/>
          </a:xfrm>
          <a:prstGeom prst="roundRect">
            <a:avLst>
              <a:gd name="adj" fmla="val 15000"/>
            </a:avLst>
          </a:prstGeom>
          <a:solidFill>
            <a:srgbClr val="E8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3B54DB"/>
                </a:solidFill>
                <a:latin typeface="Microsoft YaHei"/>
              </a:defRPr>
            </a:pPr>
            <a:r>
              <a:t>Electron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9E"/>
                </a:solidFill>
                <a:latin typeface="Microsoft YaHei"/>
              </a:defRPr>
            </a:pPr>
            <a:r>
              <a:t>github.com/jackaaron01/ds_todo  |  Version 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一句话说清 ds_todo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ds_todo 是一款面向现代工作者和学生的全功能待办事项管理桌面应用，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融合了任务管理、子任务拆解、智能排序、数据备份等 20+ 实用功能，帮助用户高效规划每一天。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26974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🎯  解决什么问题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市面待办工具功能碎片化，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要么缺子任务，要么缺优先级，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要么缺暗色模式。ds_todo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一次性补齐所有刚需。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651760"/>
            <a:ext cx="26974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834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⚡  核心优势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15468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纯前端本地存储，数据绝对隐私；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Electron 打包为单文件 exe，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双击即用零配置；现代技术栈，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代码优雅可维护。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26974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🏆  目标用户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5468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学生：管理作业和考试日程；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开发者：追踪 Bug 和 Feature；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自由职业者：多项目并行管理；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任何需要任务管理的人。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2651760"/>
            <a:ext cx="269748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83464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🔮  设计理念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154680"/>
            <a:ext cx="2331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功能完备但不臃肿；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动画流畅但不花哨；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本地优先、隐私至上；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开源透明、持续迭代。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源文件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2000+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行代码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组件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自定义 Hook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88 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桌面安装包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51206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6EF7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功能特性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痛点分析 &amp; 市场调研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当前待办应用市场存在哪些空白？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🔒  数据隐私焦虑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主流待办应用多为云端同步，用户任务数据存储在第三方服务器，存在隐私泄露风险。部分用户拒绝使用云同步工具。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🧩  功能碎片化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6596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有的 App 有优先级却没子任务，有的支持子任务却不支持日期提醒。用户被迫同时使用多个工具管理任务。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📱  体验割裂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Web 版功能受限，桌面版更新缓慢，移动端体验不一致。社区开源项目多为简单 Demo，缺乏生产级质量。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63040"/>
            <a:ext cx="26974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6459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📚  学习成本高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1965960"/>
            <a:ext cx="23317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Notion、Obsidian 等功能强大但配置复杂，普通用户需要大量学习才能上手。轻量级工具又功能太弱。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1645920"/>
          </a:xfrm>
          <a:prstGeom prst="roundRect">
            <a:avLst>
              <a:gd name="adj" fmla="val 2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市场空白总结：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  • 微软 To Do / Todoist / TickTick 等商业产品功能强大但需联网注册，数据存于云端，部分场景不符合国内用户习惯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  • 开源社区缺乏「颜值与功能并重」的桌面端待办应用，大多为简陋 Demo 或 Web-only，不提供原生桌面体验</a:t>
            </a:r>
          </a:p>
          <a:p>
            <a:pPr>
              <a:spcAft>
                <a:spcPts val="650"/>
              </a:spcAft>
              <a:defRPr sz="1300">
                <a:solidFill>
                  <a:srgbClr val="1A1A2E"/>
                </a:solidFill>
                <a:latin typeface="Microsoft YaHei"/>
              </a:defRPr>
            </a:pPr>
            <a:r>
              <a:t>  • ds_todo 定位：开源、离线优先、桌面原生、功能完备的中间地带 —— 既有商业产品的体验，又有开源软件的透明度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核心功能（一）— 任务管理与组织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优先级 · 日期 · 置顶 · 子任务 · 备注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📝 任务 CRUD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添加：回车快捷 / 按钮提交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编辑：双击触发 inline 编辑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删除：悬停 × 按钮 + 撤销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空文本自动删除，逻辑严谨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🔴🟠⚪ 三级优先级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高（红）/ 中（橙）/ 低（灰）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左侧彩色边框，一目了然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按优先级排序时快速识别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无优先级选项保持灵活性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📅 智能日期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原生日期选择器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相对日期：今天 / 明天 / 逾期 X 天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逾期红色、今天橙色、未来蓝色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三种颜色标签直观区分紧急程度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📌 置顶 &amp; 📝 备注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图钉按钮一键置顶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置顶项始终排在列表最前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备注区域实时保存文字说明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展开/折叠按钮控制显隐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✅ 子任务系统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展开式嵌套清单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独立勾选 &amp; 删除子任务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进度统计：2/5 已完成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全部完成时徽标变绿色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↩️ 撤销 &amp; 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删除后 4 秒弹性 Toast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点击「撤销」恢复任务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包含子任务和数据完整还原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超时自动确认删除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核心功能（二）— 效率与视觉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搜索 · 排序 · 暗色模式 · 导入导出 · 彩带庆祝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🔍 实时搜索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Ctrl+K 快捷键聚焦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实时文本模糊匹配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与状态筛选联动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搜索词为空时恢复全量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↕️ 三种排序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手动拖拽：HTML5 Drag &amp; Drop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按优先级：高→中→低→无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按日期：逾期→今天→未来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置顶项不受排序影响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🌓 暗色模式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745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CSS 变量双层主题系统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自动检测系统偏好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手动切换持久化到 localStorage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无闪烁（FOUC Prevention）注入脚本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📦 导入导出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导出：一键下载 JSON 备份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导入：选择文件智能合并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同 ID 覆盖更新、新 ID 追加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格式验证 + 错误提示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🎉 彩带庆祝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全部任务完成时触发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60 个随机颜色形状粒子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从屏幕上方飘落 + 旋转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3 秒后自动清除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💧 交互细节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按钮涟漪：点击位置扩散波纹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复选框弹跳：勾选缩放动画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输入抖动：空提交反馈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进度条脉冲：变化时高亮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界面设计与交互体验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基于设计原则构建的现代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5029200" cy="4754880"/>
          </a:xfrm>
          <a:prstGeom prst="roundRect">
            <a:avLst>
              <a:gd name="adj" fmla="val 2000"/>
            </a:avLst>
          </a:prstGeom>
          <a:solidFill>
            <a:srgbClr val="252540"/>
          </a:solidFill>
          <a:ln w="1016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5029200" cy="411480"/>
          </a:xfrm>
          <a:prstGeom prst="roundRect">
            <a:avLst>
              <a:gd name="adj" fmla="val 2000"/>
            </a:avLst>
          </a:prstGeom>
          <a:solidFill>
            <a:srgbClr val="1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36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ds_todo</a:t>
            </a:r>
          </a:p>
        </p:txBody>
      </p:sp>
      <p:sp>
        <p:nvSpPr>
          <p:cNvPr id="8" name="Oval 7"/>
          <p:cNvSpPr/>
          <p:nvPr/>
        </p:nvSpPr>
        <p:spPr>
          <a:xfrm>
            <a:off x="5394960" y="1572768"/>
            <a:ext cx="137160" cy="137160"/>
          </a:xfrm>
          <a:prstGeom prst="ellipse">
            <a:avLst/>
          </a:prstGeom>
          <a:solidFill>
            <a:srgbClr val="55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1572768"/>
            <a:ext cx="137160" cy="137160"/>
          </a:xfrm>
          <a:prstGeom prst="ellipse">
            <a:avLst/>
          </a:prstGeom>
          <a:solidFill>
            <a:srgbClr val="55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1572768"/>
            <a:ext cx="137160" cy="137160"/>
          </a:xfrm>
          <a:prstGeom prst="ellipse">
            <a:avLst/>
          </a:prstGeom>
          <a:solidFill>
            <a:srgbClr val="555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" y="2011680"/>
            <a:ext cx="4754880" cy="502920"/>
          </a:xfrm>
          <a:prstGeom prst="roundRect">
            <a:avLst>
              <a:gd name="adj" fmla="val 2000"/>
            </a:avLst>
          </a:prstGeom>
          <a:solidFill>
            <a:srgbClr val="2A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65176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2A2A48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39" y="265176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2A2A4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2651760"/>
            <a:ext cx="1371600" cy="274320"/>
          </a:xfrm>
          <a:prstGeom prst="roundRect">
            <a:avLst>
              <a:gd name="adj" fmla="val 10000"/>
            </a:avLst>
          </a:prstGeom>
          <a:solidFill>
            <a:srgbClr val="2A2A48"/>
          </a:solidFill>
          <a:ln w="10160">
            <a:solidFill>
              <a:srgbClr val="8C8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310896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1E1E35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4440" y="3246120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00200" y="3291840"/>
            <a:ext cx="2286000" cy="109728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108960"/>
            <a:ext cx="36576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51560" y="384048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1E1E35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34440" y="3977640"/>
            <a:ext cx="201168" cy="201168"/>
          </a:xfrm>
          <a:prstGeom prst="ellipse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0200" y="4023360"/>
            <a:ext cx="2286000" cy="109728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3840480"/>
            <a:ext cx="36576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1560" y="457200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1E1E35"/>
          </a:solidFill>
          <a:ln w="10160">
            <a:solidFill>
              <a:srgbClr val="8C8C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34440" y="4709160"/>
            <a:ext cx="201168" cy="201168"/>
          </a:xfrm>
          <a:prstGeom prst="ellipse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00200" y="4754880"/>
            <a:ext cx="2286000" cy="109728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4572000"/>
            <a:ext cx="36576" cy="594360"/>
          </a:xfrm>
          <a:prstGeom prst="rect">
            <a:avLst/>
          </a:prstGeom>
          <a:solidFill>
            <a:srgbClr val="8C8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1560" y="5303520"/>
            <a:ext cx="4754880" cy="594360"/>
          </a:xfrm>
          <a:prstGeom prst="roundRect">
            <a:avLst>
              <a:gd name="adj" fmla="val 2000"/>
            </a:avLst>
          </a:prstGeom>
          <a:solidFill>
            <a:srgbClr val="1E1E35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34440" y="5440680"/>
            <a:ext cx="201168" cy="201168"/>
          </a:xfrm>
          <a:prstGeom prst="ellipse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00200" y="5486400"/>
            <a:ext cx="2286000" cy="109728"/>
          </a:xfrm>
          <a:prstGeom prst="rect">
            <a:avLst/>
          </a:prstGeom>
          <a:solidFill>
            <a:srgbClr val="4A4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6EF7"/>
                </a:solidFill>
                <a:latin typeface="Microsoft YaHei"/>
              </a:defRPr>
            </a:pPr>
            <a:r>
              <a:t>设计原则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202996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2011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渐进式信息披露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22402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核心操作一目了然，高级功能（子任务/备注）默认折叠，减少认知负荷。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280720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2788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即时反馈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017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每个操作都有动画反馈——涟漪、弹跳、脉冲、抖动——让用户感知系统状态。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358444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一致性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3794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所有颜色、间距、圆角、阴影通过 CSS 变量统一管理。暗色模式与亮色模式像素级一致。</a:t>
            </a:r>
          </a:p>
        </p:txBody>
      </p:sp>
      <p:sp>
        <p:nvSpPr>
          <p:cNvPr id="40" name="Oval 39"/>
          <p:cNvSpPr/>
          <p:nvPr/>
        </p:nvSpPr>
        <p:spPr>
          <a:xfrm>
            <a:off x="6583680" y="436168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43434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容错性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572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删除可撤销（4秒 Toast），空文本自动清理，导入格式校验。用户不会因误操作导致数据丢失。</a:t>
            </a:r>
          </a:p>
        </p:txBody>
      </p:sp>
      <p:sp>
        <p:nvSpPr>
          <p:cNvPr id="43" name="Oval 42"/>
          <p:cNvSpPr/>
          <p:nvPr/>
        </p:nvSpPr>
        <p:spPr>
          <a:xfrm>
            <a:off x="6583680" y="513892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03720" y="51206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本地优先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349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所有数据存储在 localStorage，无网络依赖，无隐私风险。导出 JSON 提供额外的数据控制权。</a:t>
            </a:r>
          </a:p>
        </p:txBody>
      </p:sp>
      <p:sp>
        <p:nvSpPr>
          <p:cNvPr id="46" name="Oval 45"/>
          <p:cNvSpPr/>
          <p:nvPr/>
        </p:nvSpPr>
        <p:spPr>
          <a:xfrm>
            <a:off x="6583680" y="5916168"/>
            <a:ext cx="201168" cy="201168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5897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性能意识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61264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framer-motion layout 动画使用 GPU 加速，useMemo 优化排序/筛选，AnimatePresence 处理列表变更。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技术架构详解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前端 → 状态 → 持久化 → 桌面 → 打包，完整技术链路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508760"/>
            <a:ext cx="320040" cy="32004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325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桌面壳层 (Electron 42)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7276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main.js 主进程 + preload.js 预加载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electron-builder 打包为 portable.exe (88 MB)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6C8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68880"/>
            <a:ext cx="320040" cy="320040"/>
          </a:xfrm>
          <a:prstGeom prst="ellipse">
            <a:avLst/>
          </a:prstGeom>
          <a:solidFill>
            <a:srgbClr val="6C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41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渲染层 (Next.js 16 App Router)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3288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layout.tsx 根布局 + page.tsx 主页面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framer-motion 动画引擎 + Tailwind v4 样式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42900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01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461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组件层 (10 Components)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4930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Header / TodoInput / Toolbar / ProgressBar /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TodoList / TodoItem / SubtaskSection / Toast / Confetti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6052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361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206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状态层 (3 Hooks + 1 Utility)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4531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useTodos → CRUD + localStorage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useTheme → 暗色模式 + 防闪烁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useUndo → 撤销栈 + 自动消失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sortUtils → 排序算法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384048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349240"/>
            <a:ext cx="320040" cy="3200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218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166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数据层 (localStorage + 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4132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todosV2 键名，自动迁移旧数据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JSON 导出备份 + 导入合并（按 ID 去重）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1280160"/>
            <a:ext cx="7132320" cy="50292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1371600"/>
            <a:ext cx="6675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/* ── 数据模型 (src/types/index.ts) ── */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interface Todo {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id: number;         text: string;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done: boolean;      priority: "" | "high" | "medium" | "low";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dueDate: string;    order: number;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pinned: boolean;    note: string;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subtasks: { id: number; text: string; done: boolean }[];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/* ── 核心 Hook (src/hooks/useTodos.ts) ── */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export function useTodos() {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const [todos, setTodos] = useState&lt;Todo[]&gt;([]);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useEffect(() =&gt; { setTodos(loadTodos()); setMounted(true); }, []);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const save = (next: Todo[]) =&gt; { setTodos(next); saveTodos(next); };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// CRUD operations: addTodo, toggleTodo, deleteTodo,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//   updateTodoText, togglePin, updateNote,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//   addSubtask, toggleSubtask, deleteSubtask,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//   reorder, clearCompleted, restoreTodo, importTodos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return { todos, mounted, addTodo, toggleTodo, ... };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/* ── 主题切换 (src/hooks/useTheme.ts) ── */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function applyTheme(theme: "light" | "dark") {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document.documentElement.setAttribute("data-theme", theme);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/* ── Electron 主进程 (electron/main.js) ── */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const win = new BrowserWindow({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width: 900, height: 750, autoHideMenuBar: true,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  webPreferences: { preload, contextIsolation: true }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});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if (isDev) win.loadURL("http://localhost:3000");</a:t>
            </a:r>
          </a:p>
          <a:p>
            <a:pPr>
              <a:spcAft>
                <a:spcPts val="142"/>
              </a:spcAft>
              <a:defRPr sz="950">
                <a:solidFill>
                  <a:srgbClr val="C8C8D8"/>
                </a:solidFill>
                <a:latin typeface="Consolas"/>
              </a:defRPr>
            </a:pPr>
            <a:r>
              <a:t>else win.loadFile("out/index.html");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技术栈全景图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从代码到可执行文件的技术选型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6EF7"/>
                </a:solidFill>
                <a:latin typeface="Microsoft YaHei"/>
              </a:defRPr>
            </a:pPr>
            <a:r>
              <a:t>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App Router 架构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React Server Components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Static Export 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6C8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C83F7"/>
                </a:solidFill>
                <a:latin typeface="Microsoft YaHei"/>
              </a:defRPr>
            </a:pPr>
            <a:r>
              <a:t>TypeScript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strict 模式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完整类型定义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20 个源文件类型安全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Tailwind CSS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原子化样式类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CSS 变量主题系统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自定义 @keyframes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framer-motion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AnimatePresence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layout FLIP 动画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spring 弹性缓动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Electron 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348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BrowserWindow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contextIsolation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autoHideMenuBar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Microsoft YaHei"/>
              </a:defRPr>
            </a:pPr>
            <a:r>
              <a:t>electron-builder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348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Portable 单文件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NSIS 安装程序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自动签名 &amp; 压缩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技术创新点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在工程实现和用户体验层面的创新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🏗️ 无依赖状态管理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不使用 Redux/Zustand/Jotai 等状态库，仅用 React useState + useCallback + props 传递实现完整状态流。依赖数量极简（零运行时依赖（完全静态导出）），代码透明可控，适合教学和二次开发。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🎨 CSS 变量双层主题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放弃 Tailwind dark: 媒体查询方案，自研 data-theme 属性方案。layout.tsx 注入阻塞式内联 &lt;script&gt; 在 DOM 解析前应用主题，实现真正零闪烁的暗色模式切换。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🌀 增量式 DOM 更新 + 动画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并非简单 innerHTML 替换。对比当前 DOM 与目标数据，对保留项原地更新内容（animation: none 防重播），对新增项播放入场动画，对删除项先播放退场再移除。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017520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📋 子任务独立数据模型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子任务并非简单的字符串数组，而是具备独立 id/text/done 字段的完整数据实体。支持独立勾选、删除、进度统计。父任务显示 2/5 完成度徽标，全部完成时变绿。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9377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🖥️ Electron 桌面化方案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79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Next.js output: 'export' 生成纯静态文件，Electron 主进程 loadFile 加载。开发模式 concurrently 同时启动 Next.js 和 Electron，支持热更新。打包为单文件 portable exe，双击即用。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754879"/>
            <a:ext cx="557784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5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6EF7"/>
                </a:solidFill>
                <a:latin typeface="Microsoft YaHei"/>
              </a:defRPr>
            </a:pPr>
            <a:r>
              <a:t>💾 数据可移植性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799"/>
            <a:ext cx="5212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JSON 导出备份 + 导入智能合并（同 ID 覆盖、新 ID 追加）。localStorage 键名 todosV2，自动迁移旧版本数据字段。用户数据不绑定应用，随时可导出。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动画与微交互系统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10 种动画效果，提升用户体验感知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37160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📥 列表入场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2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framer-motion initial/exit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slideIn: 从上方 20px 滑入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前 8 项交错延迟 30ms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37160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📤 列表退场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7452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AnimatePresence exit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slideOut: 右移 40px + 收缩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动画结束后 DOM 移除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37160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☑️ 复选框弹跳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87452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CSS bounceCheck keyframe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scale 1 → 1.35 → 0.85 → 1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勾选时 350ms 弹性动画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7160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💧 按钮涟漪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87452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动态生成 span 元素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CSS ripple: scale 4 + 淡出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600ms 后自动清理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38360" y="137160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155448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进度条脉冲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87452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变化时 barPulse 高亮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全部完成时绿色渐变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framer-motion layout 过渡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" y="393192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114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🍞 Toast 弹性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43484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spring: stiffness 400 damping 28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从底部弹入回弹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4 秒后自动退出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393192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4114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🎪 彩带庆祝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43484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60 粒子 CSS confettiFall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随机颜色 (8 色) 形状 (5 种)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下落 + 720° 旋转 3 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83480" y="393192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4114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🌓 主题切换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443484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按钮 spin360 旋转 500ms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body 背景 0.5s 过渡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所有颜色平滑切换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93192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4114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🎯 菜单弹出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443484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scale(0.9) → scale(1)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opacity 0 → 1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200ms ease 缓入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3931920"/>
            <a:ext cx="2240280" cy="2331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4114800"/>
            <a:ext cx="1874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🖱️ 拖拽反馈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434840"/>
            <a:ext cx="1874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dragging: opacity 0.4 + scale 0.97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drag-over: 蓝色 2px 边框</a:t>
            </a:r>
          </a:p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drop 后重排 + 序号更新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竞品对比分析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ds_todo vs 主流待办应用 — 功能维度全面对比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371600" cy="320040"/>
          </a:xfrm>
          <a:prstGeom prst="rect">
            <a:avLst/>
          </a:prstGeom>
          <a:solidFill>
            <a:srgbClr val="4F6EF7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功能维度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1371600"/>
            <a:ext cx="1554480" cy="320040"/>
          </a:xfrm>
          <a:prstGeom prst="rect">
            <a:avLst/>
          </a:prstGeom>
          <a:solidFill>
            <a:srgbClr val="1A1A2E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ds_todo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微软 To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Todoist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3716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TickTick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Notion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9164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桌面原生应用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169164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单文件 exe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6916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6916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Electron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6916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Electron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Electron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1168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离线使用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201168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完全离线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0116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有限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0116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有限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0116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离线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0116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有限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33172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数据隐私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233172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本地存储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23317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云端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3317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云端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3317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混合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3317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云端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65176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开源 &amp; 免费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265176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MIT 开源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6517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免费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517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付费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6517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付费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6517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⚠️ 付费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97180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三级优先级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297180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红/橙/灰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297180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⭐ 仅星标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97180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4级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97180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3级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97180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329184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子任务系统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329184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完整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329184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步骤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29184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完整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29184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完整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29184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完整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61188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拖拽排序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45920" y="361188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原生 DnD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61188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361188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361188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361188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93192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暗色模式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45920" y="393192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零闪烁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93192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393192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93192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138160" y="393192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支持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425196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撤销删除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45920" y="425196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4秒 Toast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425196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46320" y="425196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425196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38160" y="425196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457200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进度条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645920" y="457200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动画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45720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45720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静态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492240" y="45720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静态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38160" y="457200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无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74320" y="489204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导入导出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645920" y="489204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ECC71"/>
                </a:solidFill>
                <a:latin typeface="Microsoft YaHei"/>
              </a:defRPr>
            </a:pPr>
            <a:r>
              <a:t>✅ JSON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48920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E74C3C"/>
                </a:solidFill>
                <a:latin typeface="Microsoft YaHei"/>
              </a:defRPr>
            </a:pPr>
            <a:r>
              <a:t>❌ 有限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46320" y="48920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多格式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92240" y="48920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多格式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38160" y="489204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2ECC71"/>
                </a:solidFill>
                <a:latin typeface="Microsoft YaHei"/>
              </a:defRPr>
            </a:pPr>
            <a:r>
              <a:t>✅ 多格式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21208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安装包体积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645920" y="521208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88 MB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00400" y="52120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~200 MB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46320" y="52120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~250 MB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92240" y="52120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~300 MB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138160" y="521208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~350 MB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4320" y="5532120"/>
            <a:ext cx="137160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学习成本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45920" y="553212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39C12"/>
                </a:solidFill>
                <a:latin typeface="Microsoft YaHei"/>
              </a:defRPr>
            </a:pPr>
            <a:r>
              <a:t>⭐ 极低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00400" y="55321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⭐⭐ 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846320" y="55321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⭐⭐⭐ 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55321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⭐⭐⭐ 中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38160" y="5532120"/>
            <a:ext cx="164592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F39C12"/>
                </a:solidFill>
                <a:latin typeface="Microsoft YaHei"/>
              </a:defRPr>
            </a:pPr>
            <a:r>
              <a:t>⭐⭐⭐⭐ 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5852160"/>
            <a:ext cx="137160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包管理器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45920" y="5852160"/>
            <a:ext cx="1554480" cy="320040"/>
          </a:xfrm>
          <a:prstGeom prst="rect">
            <a:avLst/>
          </a:prstGeom>
          <a:solidFill>
            <a:srgbClr val="EEF2FF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A1A2E"/>
                </a:solidFill>
                <a:latin typeface="Microsoft YaHei"/>
              </a:defRPr>
            </a:pPr>
            <a:r>
              <a:t>npm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0400" y="58521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Store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46320" y="58521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npm/Store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492240" y="58521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npm/Store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38160" y="5852160"/>
            <a:ext cx="1645920" cy="320040"/>
          </a:xfrm>
          <a:prstGeom prst="rect">
            <a:avLst/>
          </a:prstGeom>
          <a:solidFill>
            <a:srgbClr val="F5F6FA"/>
          </a:solidFill>
          <a:ln w="10160">
            <a:solidFill>
              <a:srgbClr val="E8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>
                <a:solidFill>
                  <a:srgbClr val="1A1A2E"/>
                </a:solidFill>
                <a:latin typeface="Microsoft YaHei"/>
              </a:defRPr>
            </a:pPr>
            <a:r>
              <a:t>npm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57200" y="5715000"/>
            <a:ext cx="11247120" cy="502920"/>
          </a:xfrm>
          <a:prstGeom prst="roundRect">
            <a:avLst>
              <a:gd name="adj" fmla="val 3000"/>
            </a:avLst>
          </a:prstGeom>
          <a:solidFill>
            <a:srgbClr val="E8ECFE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Microsoft YaHei"/>
              </a:defRPr>
            </a:pPr>
            <a:r>
              <a:t>核心差异：ds_todo 是唯一「开源 + 离线优先 + 桌面原生 + 零配置」的待办管理工具，在数据隐私和安装便利性上具有独特优势。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优缺点深度分析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客观评估项目的优势和待改进之处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Microsoft YaHei"/>
              </a:defRPr>
            </a:pPr>
            <a:r>
              <a:t>✅  优势 (Strengths)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隐私安全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纯本地存储，无网络请求，无数据上传。用户数据完全由自己掌控，适合企业内部和隐私敏感场景。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70048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开箱即用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7296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单文件 portable exe，双击启动，无需安装 Node.js / npm / 浏览器。88 MB 包含完整运行时。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19856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02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技术现代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2277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Next.js 16 + React 19 + TypeScript 5 + Tailwind v4 均为最新版本。代码结构清晰，适合学习和二次开发。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9664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动画精致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7258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10 种微交互动画，framer-motion 驱动的列表动画流畅自然。暗色模式零闪烁切换。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19472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功能完备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22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20+ 功能特性，覆盖优先级、日期、子任务、备注、置顶、搜索、排序、导入导出等全场景。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79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852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体积可控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19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88 MB 打包体积在 Electron 应用中属优秀水平（微软 To Do ~200 MB，Todoist ~250 MB）。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⚠️  不足与改进方向 (Weaknesses)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920240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无云端同步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231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当前仅支持 localStorage 本地存储 + JSON 手动导入导出。多设备间无法自动同步任务数据。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670048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单用户单机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17296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不支持多用户协作、任务指派、团队看板等功能。定位为个人工具，不适合团队场景。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419856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027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无移动端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2277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当前仅支持 Windows 桌面。无 macOS / Linux 正式测试，无 iOS / Android 移动版本。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169664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352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缺少通知提醒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672584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未集成系统通知 (Notification API)，截止日期临近时无法主动提醒用户。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919472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1023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Electron 固有开销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223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88 MB 虽然优于竞品，但相比 Native 应用 (如 Snipaste ~10 MB) 体积偏大。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669279"/>
            <a:ext cx="5394960" cy="685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852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无自动化测试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17219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当前项目未包含单元测试、E2E 测试、CI/CD 流水线，代码质量和回归依赖于人工验证。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核心竞争力总结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为什么 ds_todo 值得关注？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365760" cy="36576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10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36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🔐 数据主权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8745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在 GDPR 合规日益严格的背景下，纯本地存储方案提供了云端工具无法比拟的隐私保障。用户数据从不离开设备，即使应用卸载，数据仍保留在浏览器 localStorage 或导出 JSON 中。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9748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044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770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⚡ 零摩擦上手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108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下载 → 双击 → 使用。三秒内开始管理任务。不需要注册账号、不需要网络连接、不需要任何配置。这是所有竞品都无法做到的体验。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297680"/>
            <a:ext cx="365760" cy="36576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050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🎨 像素级精致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434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10 种动画效果、CSS 变量主题、framer-motion 声明式动画——这些通常是商业产品才有的设计投入。ds_todo 在开源项目中做到了「设计不妥协」。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16636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138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39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📚 教学友好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5778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代码架构清晰、注释克制、依赖极简（零运行时依赖（完全静态导出））。20 个源文件覆盖 React/TypeScript/Tailwind/Electron 技术栈，是优秀的学习参考项目。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C8C9E"/>
                </a:solidFill>
                <a:latin typeface="Microsoft YaHei"/>
              </a:defRPr>
            </a:pPr>
            <a:r>
              <a:t>综合评分参考：功能完整度 ★★★★☆  |  代码质量 ★★★★★  |  用户体验 ★★★★☆  |  创新性 ★★★★☆  |  实用性 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开发历程与方法论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从零到一构建全功能待办应用的完整过程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原型验证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FF"/>
                </a:solidFill>
                <a:latin typeface="Microsoft YaHei"/>
              </a:defRPr>
            </a:pPr>
            <a:r>
              <a:t>单文件 HTML+CSS+JS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11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耗时: 1 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377440"/>
            <a:ext cx="21945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快速验证核心交互：添加、删除、勾选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localStorage 持久化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确认产品方向可行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C8C9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3716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6C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功能完善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8745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FF"/>
                </a:solidFill>
                <a:latin typeface="Microsoft YaHei"/>
              </a:defRPr>
            </a:pPr>
            <a:r>
              <a:t>优先级 + 日期 + 搜索 + 拖拽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011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耗时: 1 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2377440"/>
            <a:ext cx="21945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24688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三级优先级 + 彩色标识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日期选择器 + 相对日期显示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搜索筛选 + 排序 + 拖拽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C8C9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3716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体验升级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8745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FF"/>
                </a:solidFill>
                <a:latin typeface="Microsoft YaHei"/>
              </a:defRPr>
            </a:pPr>
            <a:r>
              <a:t>动画 + 暗色模式 + 撤销 + 子任务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011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耗时: 1 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2377440"/>
            <a:ext cx="21945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24688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10 种动画微交互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CSS 变量双层主题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子任务 + 备注 + 置顶 + 导入导出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42048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C8C9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13716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技术重构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8745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FF"/>
                </a:solidFill>
                <a:latin typeface="Microsoft YaHei"/>
              </a:defRPr>
            </a:pPr>
            <a:r>
              <a:t>Next.js + TS + Tailwind + Electron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011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耗时: 1 天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2377440"/>
            <a:ext cx="21945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43800" y="24688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单文件 HTML → Next.js 组件化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JavaScript → TypeScript strict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命令式 CSS → Tailwind 原子化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2651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C8C9E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137160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141732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交付与展示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1874519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DDDFF"/>
                </a:solidFill>
                <a:latin typeface="Microsoft YaHei"/>
              </a:defRPr>
            </a:pPr>
            <a:r>
              <a:t>PPT + README + GitHub + 桌面打包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20116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耗时: 1 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784080" y="2377440"/>
            <a:ext cx="2194560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2468880"/>
            <a:ext cx="1920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竞赛 PPT 制作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README 技术文档</a:t>
            </a:r>
          </a:p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Electron 打包 + 一键启动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性能与技术指标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代码质量、运行时性能、构建产物分析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TypeScript 类型覆盖率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264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strict 模式，0 个类型错误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2646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React 组件数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142646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Microsoft YaHei"/>
              </a:defRPr>
            </a:pPr>
            <a:r>
              <a:t>9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全部使用函数组件 + Hooks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33172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865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运行时依赖数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865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2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react + framer-motion（Next.js 构建时）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3172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8658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首屏渲染时间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865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&lt; 100ms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Static Export，浏览器直接解析 HTML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29184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3467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主题切换延迟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3467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&lt; 16ms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单帧内完成 CSS 变量切换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9184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3467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localStorage 读写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3467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Microsoft YaHei"/>
              </a:defRPr>
            </a:pPr>
            <a:r>
              <a:t>&lt; 1ms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11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同步操作，数据量 &lt; 100KB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3068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应用冷启动时间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306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&lt; 2s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Electron + Chromium 启动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25196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30682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内存占用（空闲）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306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~120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72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Chromium 渲染器开销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21208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266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打包体积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2669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  <a:latin typeface="Microsoft YaHei"/>
              </a:defRPr>
            </a:pPr>
            <a:r>
              <a:t>88 MB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含 Electron 42 + Chromium + Node.js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212080"/>
            <a:ext cx="5394960" cy="82296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266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Gzip 后体积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2669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Microsoft YaHei"/>
              </a:defRPr>
            </a:pPr>
            <a:r>
              <a:t>~42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532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8C8C9E"/>
                </a:solidFill>
                <a:latin typeface="Microsoft YaHei"/>
              </a:defRPr>
            </a:pPr>
            <a:r>
              <a:t>NSIS 7z 压缩效果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未来规划与演进路线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短期优化 → 中期扩展 → 长期愿景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35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🚀 短期（1-3 月）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148840"/>
            <a:ext cx="164592" cy="164592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增加系统通知提醒 (Notification API)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43199"/>
            <a:ext cx="164592" cy="164592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97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支持 Markdown 格式任务描述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337559"/>
            <a:ext cx="164592" cy="164592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918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添加标签/分类系统 (Tag/Category)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931920"/>
            <a:ext cx="164592" cy="164592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键盘快捷键自定义配置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526280"/>
            <a:ext cx="164592" cy="164592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数据看板：完成率趋势图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137160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435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🌐 中期（3-6 月）</a:t>
            </a:r>
          </a:p>
        </p:txBody>
      </p:sp>
      <p:sp>
        <p:nvSpPr>
          <p:cNvPr id="19" name="Oval 18"/>
          <p:cNvSpPr/>
          <p:nvPr/>
        </p:nvSpPr>
        <p:spPr>
          <a:xfrm>
            <a:off x="4434840" y="2148840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WebDAV/远程同步支持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2743199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2697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macOS &amp; Linux 跨平台适配</a:t>
            </a:r>
          </a:p>
        </p:txBody>
      </p:sp>
      <p:sp>
        <p:nvSpPr>
          <p:cNvPr id="23" name="Oval 22"/>
          <p:cNvSpPr/>
          <p:nvPr/>
        </p:nvSpPr>
        <p:spPr>
          <a:xfrm>
            <a:off x="4434840" y="3337559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PWA 版本（手机端可用）</a:t>
            </a:r>
          </a:p>
        </p:txBody>
      </p:sp>
      <p:sp>
        <p:nvSpPr>
          <p:cNvPr id="25" name="Oval 24"/>
          <p:cNvSpPr/>
          <p:nvPr/>
        </p:nvSpPr>
        <p:spPr>
          <a:xfrm>
            <a:off x="4434840" y="3931920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多语言国际化 (i18n)</a:t>
            </a:r>
          </a:p>
        </p:txBody>
      </p:sp>
      <p:sp>
        <p:nvSpPr>
          <p:cNvPr id="27" name="Oval 26"/>
          <p:cNvSpPr/>
          <p:nvPr/>
        </p:nvSpPr>
        <p:spPr>
          <a:xfrm>
            <a:off x="4434840" y="4526280"/>
            <a:ext cx="164592" cy="164592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插件系统架构设计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371600"/>
            <a:ext cx="3566160" cy="548640"/>
          </a:xfrm>
          <a:prstGeom prst="roundRect">
            <a:avLst>
              <a:gd name="adj" fmla="val 6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4356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🌟 长期（6-12 月）</a:t>
            </a:r>
          </a:p>
        </p:txBody>
      </p:sp>
      <p:sp>
        <p:nvSpPr>
          <p:cNvPr id="31" name="Oval 30"/>
          <p:cNvSpPr/>
          <p:nvPr/>
        </p:nvSpPr>
        <p:spPr>
          <a:xfrm>
            <a:off x="8275320" y="2148840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103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端到端加密云同步</a:t>
            </a:r>
          </a:p>
        </p:txBody>
      </p:sp>
      <p:sp>
        <p:nvSpPr>
          <p:cNvPr id="33" name="Oval 32"/>
          <p:cNvSpPr/>
          <p:nvPr/>
        </p:nvSpPr>
        <p:spPr>
          <a:xfrm>
            <a:off x="8275320" y="2743199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26974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AI 智能任务拆解 (LLM)</a:t>
            </a:r>
          </a:p>
        </p:txBody>
      </p:sp>
      <p:sp>
        <p:nvSpPr>
          <p:cNvPr id="35" name="Oval 34"/>
          <p:cNvSpPr/>
          <p:nvPr/>
        </p:nvSpPr>
        <p:spPr>
          <a:xfrm>
            <a:off x="8275320" y="3337559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32918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团队协作与任务指派</a:t>
            </a:r>
          </a:p>
        </p:txBody>
      </p:sp>
      <p:sp>
        <p:nvSpPr>
          <p:cNvPr id="37" name="Oval 36"/>
          <p:cNvSpPr/>
          <p:nvPr/>
        </p:nvSpPr>
        <p:spPr>
          <a:xfrm>
            <a:off x="8275320" y="3931920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3886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移动端原生 App (React Native)</a:t>
            </a:r>
          </a:p>
        </p:txBody>
      </p:sp>
      <p:sp>
        <p:nvSpPr>
          <p:cNvPr id="39" name="Oval 38"/>
          <p:cNvSpPr/>
          <p:nvPr/>
        </p:nvSpPr>
        <p:spPr>
          <a:xfrm>
            <a:off x="8275320" y="4526280"/>
            <a:ext cx="164592" cy="164592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49640" y="4480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Calendar 视图 &amp; 甘特图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里程碑时间线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57790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v1.0  |  2025.05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989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全功能发布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8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6C8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49040" y="57790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v1.5  |  2025.07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49040" y="5989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通知 + 标签 + 看板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9224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7790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v2.0  |  2025.10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5989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云同步 + 跨平台 + PWA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5760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0" y="577900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v3.0  |  2026.04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59893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AI + 团队协作 + 移动端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安全与隐私设计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数据安全是 ds_todo 的核心设计原则之一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64592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🔒 完全离线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190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应用启动后不发起任何网络请求（除 Electron 下载外）。所有数据存储在用户设备的 localStorage 中，第三方无法访问。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7744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651760"/>
            <a:ext cx="320040" cy="32004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231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📁 数据可导出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249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支持一键导出 JSON 格式备份文件。用户数据不绑定应用，可随时迁移到其他工具或恢复。JSON 格式可被任何文本编辑器打开验证。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393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4290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🚫 零数据收集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307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无埋点、无分析 SDK、无遥测、无广告。代码完全开源 (MIT)，任何人都可以审计是否存在隐私风险。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4F6E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4663440"/>
            <a:ext cx="320040" cy="32004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451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34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🛡️ Electron 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365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contextIsolation: true — 渲染进程无法直接访问 Node.js API。nodeIntegration: false — 阻断 XSS 攻击路径。preload.js 仅暴露安全 API。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394960"/>
            <a:ext cx="11247120" cy="868680"/>
          </a:xfrm>
          <a:prstGeom prst="roundRect">
            <a:avLst>
              <a:gd name="adj" fmla="val 4000"/>
            </a:avLst>
          </a:prstGeom>
          <a:solidFill>
            <a:srgbClr val="F5F6FA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566928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5099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406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🗑️ 数据可控删除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424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8C8C9E"/>
                </a:solidFill>
                <a:latin typeface="Microsoft YaHei"/>
              </a:defRPr>
            </a:pPr>
            <a:r>
              <a:t>删除操作支持 4 秒撤销窗口。确认删除后数据从 localStorage 永久移除，不留痕迹。清除已完成可一键批量清理。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目标市场与用户画像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面向什么样的用户群体？市场规模如何？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6EF7"/>
                </a:solidFill>
                <a:latin typeface="Microsoft YaHei"/>
              </a:defRPr>
            </a:pPr>
            <a:r>
              <a:t>👨‍💻 软件开发者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痛点: 跟踪 Bug / Feature / Code Review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场景: 日常开发任务 + 学习计划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需求: 离线、快捷键、JSON 导入导出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契合度: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83F7"/>
                </a:solidFill>
                <a:latin typeface="Microsoft YaHei"/>
              </a:defRPr>
            </a:pPr>
            <a:r>
              <a:t>👩‍🎓 学生群体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痛点: 作业 Deadline / 考试日程 / 项目进度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场景: 学期课程 + 社团活动管理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需求: 日期提醒、子任务拆解、免费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契合度: ★★★★★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🏠 自由职业者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痛点: 多项目并行 / 客户交付物追踪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场景: 同时管理 3-5 个项目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需求: 置顶、备注、导出备份、隐私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契合度: ★★★★☆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 w="10160">
            <a:solidFill>
              <a:srgbClr val="E8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Microsoft YaHei"/>
              </a:defRPr>
            </a:pPr>
            <a:r>
              <a:t>🏢 小型团队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51206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痛点: 轻量任务追踪 / 无需 Jira 的复杂度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场景: 5-10 人团队日常协作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需求: 看板、指派、同步（后续版本）</a:t>
            </a:r>
          </a:p>
          <a:p>
            <a:pPr>
              <a:spcAft>
                <a:spcPts val="600"/>
              </a:spcAft>
              <a:defRPr sz="1200">
                <a:solidFill>
                  <a:srgbClr val="8C8C9E"/>
                </a:solidFill>
                <a:latin typeface="Microsoft YaHei"/>
              </a:defRPr>
            </a:pPr>
            <a:r>
              <a:t>契合度: ★★★☆☆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快速开始 &amp; 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C8C9E"/>
                </a:solidFill>
                <a:latin typeface="Microsoft YaHei"/>
              </a:defRPr>
            </a:pPr>
            <a:r>
              <a:t>三步启动，即刻体验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克隆仓库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git clone https://github.com/</a:t>
            </a:r>
          </a:p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jackaaron01/ds_todo.git</a:t>
            </a:r>
          </a:p>
        </p:txBody>
      </p:sp>
      <p:sp>
        <p:nvSpPr>
          <p:cNvPr id="9" name="Oval 8"/>
          <p:cNvSpPr/>
          <p:nvPr/>
        </p:nvSpPr>
        <p:spPr>
          <a:xfrm>
            <a:off x="5212079" y="16459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19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安装运行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npm install</a:t>
            </a:r>
          </a:p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npm run dev</a:t>
            </a:r>
          </a:p>
        </p:txBody>
      </p:sp>
      <p:sp>
        <p:nvSpPr>
          <p:cNvPr id="13" name="Oval 12"/>
          <p:cNvSpPr/>
          <p:nvPr/>
        </p:nvSpPr>
        <p:spPr>
          <a:xfrm>
            <a:off x="8961120" y="1645920"/>
            <a:ext cx="548640" cy="54864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1719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桌面体验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260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直接下载 ds_todo_portable.exe</a:t>
            </a:r>
          </a:p>
          <a:p>
            <a:pPr>
              <a:spcAft>
                <a:spcPts val="700"/>
              </a:spcAft>
              <a:defRPr sz="1400">
                <a:solidFill>
                  <a:srgbClr val="8C8C9E"/>
                </a:solidFill>
                <a:latin typeface="Microsoft YaHei"/>
              </a:defRPr>
            </a:pPr>
            <a:r>
              <a:t>双击启动，无需任何依赖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206240"/>
            <a:ext cx="8503920" cy="20116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297680"/>
            <a:ext cx="79552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$ git clone https://github.com/jackaaron01/ds_todo.git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$ cd ds_todo &amp;&amp; npm install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$ npm run dev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  ▲ Next.js 16.2.6 (Turbopack)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  - Local:         http://localhost:3000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  ✓ Ready in 3.8s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$ npm run build:electron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  • building target=portable file=release\ds_todo_portable.exe</a:t>
            </a:r>
          </a:p>
          <a:p>
            <a:pPr>
              <a:spcAft>
                <a:spcPts val="550"/>
              </a:spcAft>
              <a:defRPr sz="1100">
                <a:solidFill>
                  <a:srgbClr val="A8C8E8"/>
                </a:solidFill>
                <a:latin typeface="Consolas"/>
              </a:defRPr>
            </a:pPr>
            <a:r>
              <a:t>  ✓ ds_todo_portable.exe (88 MB) — 双击即用！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E"/>
                </a:solidFill>
                <a:latin typeface="Microsoft YaHei"/>
              </a:defRPr>
            </a:pPr>
            <a:r>
              <a:t>ds_todo — 开源 · 离线 · 桌面原生 · 功能完备的待办事项管理工具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F6EF7"/>
                </a:solidFill>
                <a:latin typeface="Microsoft YaHei"/>
              </a:defRPr>
            </a:pPr>
            <a:r>
              <a:t>GitHub: github.com/jackaaron01/ds_todo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12064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E8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3B54DB"/>
                </a:solidFill>
                <a:latin typeface="Microsoft YaHei"/>
              </a:defRPr>
            </a:pPr>
            <a:r>
              <a:t>Next.js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120640"/>
            <a:ext cx="1188720" cy="274320"/>
          </a:xfrm>
          <a:prstGeom prst="roundRect">
            <a:avLst>
              <a:gd name="adj" fmla="val 15000"/>
            </a:avLst>
          </a:prstGeom>
          <a:solidFill>
            <a:srgbClr val="D4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1E8E5A"/>
                </a:solidFill>
                <a:latin typeface="Microsoft YaHei"/>
              </a:defRPr>
            </a:pPr>
            <a: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5120640"/>
            <a:ext cx="1280160" cy="274320"/>
          </a:xfrm>
          <a:prstGeom prst="roundRect">
            <a:avLst>
              <a:gd name="adj" fmla="val 15000"/>
            </a:avLst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C0392B"/>
                </a:solidFill>
                <a:latin typeface="Microsoft YaHei"/>
              </a:defRPr>
            </a:pPr>
            <a:r>
              <a:t>Tailwind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5120640"/>
            <a:ext cx="1463040" cy="274320"/>
          </a:xfrm>
          <a:prstGeom prst="roundRect">
            <a:avLst>
              <a:gd name="adj" fmla="val 15000"/>
            </a:avLst>
          </a:prstGeom>
          <a:solidFill>
            <a:srgbClr val="D4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1E8E5A"/>
                </a:solidFill>
                <a:latin typeface="Microsoft YaHei"/>
              </a:defRPr>
            </a:pPr>
            <a:r>
              <a:t>framer-motion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5120640"/>
            <a:ext cx="1188720" cy="274320"/>
          </a:xfrm>
          <a:prstGeom prst="roundRect">
            <a:avLst>
              <a:gd name="adj" fmla="val 15000"/>
            </a:avLst>
          </a:prstGeom>
          <a:solidFill>
            <a:srgbClr val="E8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/>
          <a:lstStyle/>
          <a:p>
            <a:pPr algn="ctr">
              <a:defRPr sz="900" b="1">
                <a:solidFill>
                  <a:srgbClr val="3B54DB"/>
                </a:solidFill>
                <a:latin typeface="Microsoft YaHei"/>
              </a:defRPr>
            </a:pPr>
            <a:r>
              <a:t>Electron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C8C9E"/>
                </a:solidFill>
                <a:latin typeface="Microsoft YaHei"/>
              </a:defRPr>
            </a:pPr>
            <a:r>
              <a:t>2025  |  MIT License  |  Made with ❤️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C8C9E"/>
                </a:solidFill>
                <a:latin typeface="Microsoft YaHe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